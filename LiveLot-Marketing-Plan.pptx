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Heading Now 31-38 Bold" charset="1" panose="00000000000000000000"/>
      <p:regular r:id="rId24"/>
    </p:embeddedFont>
    <p:embeddedFont>
      <p:font typeface="Open Sauce Italics" charset="1" panose="00000500000000000000"/>
      <p:regular r:id="rId25"/>
    </p:embeddedFont>
    <p:embeddedFont>
      <p:font typeface="Open Sauce Bold" charset="1" panose="00000800000000000000"/>
      <p:regular r:id="rId26"/>
    </p:embeddedFont>
    <p:embeddedFont>
      <p:font typeface="Arial Bold" charset="1" panose="020B0704020202020204"/>
      <p:regular r:id="rId27"/>
    </p:embeddedFont>
    <p:embeddedFont>
      <p:font typeface="Arial" charset="1" panose="020B0604020202020204"/>
      <p:regular r:id="rId28"/>
    </p:embeddedFont>
    <p:embeddedFont>
      <p:font typeface="Arial Bold Italics" charset="1" panose="020B0704020202090204"/>
      <p:regular r:id="rId29"/>
    </p:embeddedFont>
    <p:embeddedFont>
      <p:font typeface="Arial Italics" charset="1" panose="020B0604020202090204"/>
      <p:regular r:id="rId30"/>
    </p:embeddedFont>
    <p:embeddedFont>
      <p:font typeface="Heading Now 31-38 Bold Italics" charset="1" panose="0000080000000000000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jpeg" Type="http://schemas.openxmlformats.org/officeDocument/2006/relationships/image"/><Relationship Id="rId11" Target="../media/image4.png" Type="http://schemas.openxmlformats.org/officeDocument/2006/relationships/image"/><Relationship Id="rId2" Target="../media/image1.png" Type="http://schemas.openxmlformats.org/officeDocument/2006/relationships/image"/><Relationship Id="rId3" Target="../media/image5.jpe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8.jpeg" Type="http://schemas.openxmlformats.org/officeDocument/2006/relationships/image"/><Relationship Id="rId7" Target="../media/image9.jpeg" Type="http://schemas.openxmlformats.org/officeDocument/2006/relationships/image"/><Relationship Id="rId8" Target="../media/image10.jpeg" Type="http://schemas.openxmlformats.org/officeDocument/2006/relationships/image"/><Relationship Id="rId9" Target="../media/image1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2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25.png" Type="http://schemas.openxmlformats.org/officeDocument/2006/relationships/image"/><Relationship Id="rId7" Target="../media/image26.png" Type="http://schemas.openxmlformats.org/officeDocument/2006/relationships/image"/><Relationship Id="rId8" Target="../media/image27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28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2659" y="7073377"/>
            <a:ext cx="17096641" cy="2842292"/>
            <a:chOff x="0" y="0"/>
            <a:chExt cx="4482881" cy="74527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82881" cy="745273"/>
            </a:xfrm>
            <a:custGeom>
              <a:avLst/>
              <a:gdLst/>
              <a:ahLst/>
              <a:cxnLst/>
              <a:rect r="r" b="b" t="t" l="l"/>
              <a:pathLst>
                <a:path h="745273" w="4482881">
                  <a:moveTo>
                    <a:pt x="0" y="0"/>
                  </a:moveTo>
                  <a:lnTo>
                    <a:pt x="4482881" y="0"/>
                  </a:lnTo>
                  <a:lnTo>
                    <a:pt x="4482881" y="745273"/>
                  </a:lnTo>
                  <a:lnTo>
                    <a:pt x="0" y="745273"/>
                  </a:lnTo>
                  <a:close/>
                </a:path>
              </a:pathLst>
            </a:custGeom>
            <a:solidFill>
              <a:srgbClr val="363636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0" y="-91433"/>
            <a:ext cx="9144000" cy="10482011"/>
            <a:chOff x="0" y="0"/>
            <a:chExt cx="17928969" cy="2055245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102" y="-127"/>
              <a:ext cx="17927868" cy="20552581"/>
            </a:xfrm>
            <a:custGeom>
              <a:avLst/>
              <a:gdLst/>
              <a:ahLst/>
              <a:cxnLst/>
              <a:rect r="r" b="b" t="t" l="l"/>
              <a:pathLst>
                <a:path h="20552581" w="17927868">
                  <a:moveTo>
                    <a:pt x="17927867" y="20481788"/>
                  </a:moveTo>
                  <a:cubicBezTo>
                    <a:pt x="17927867" y="20548014"/>
                    <a:pt x="17905634" y="20552581"/>
                    <a:pt x="17847674" y="20552581"/>
                  </a:cubicBezTo>
                  <a:cubicBezTo>
                    <a:pt x="11898876" y="20551313"/>
                    <a:pt x="5950343" y="20551313"/>
                    <a:pt x="1545" y="20551313"/>
                  </a:cubicBezTo>
                  <a:cubicBezTo>
                    <a:pt x="-3896" y="20523656"/>
                    <a:pt x="6309" y="20498535"/>
                    <a:pt x="12396" y="20472908"/>
                  </a:cubicBezTo>
                  <a:cubicBezTo>
                    <a:pt x="273882" y="19350867"/>
                    <a:pt x="535632" y="18229081"/>
                    <a:pt x="797911" y="17107297"/>
                  </a:cubicBezTo>
                  <a:cubicBezTo>
                    <a:pt x="1171878" y="15507971"/>
                    <a:pt x="1546639" y="13908901"/>
                    <a:pt x="1920341" y="12309575"/>
                  </a:cubicBezTo>
                  <a:cubicBezTo>
                    <a:pt x="2381911" y="10334461"/>
                    <a:pt x="2842422" y="8359346"/>
                    <a:pt x="3303727" y="6384486"/>
                  </a:cubicBezTo>
                  <a:cubicBezTo>
                    <a:pt x="3772443" y="4378162"/>
                    <a:pt x="4241423" y="2372091"/>
                    <a:pt x="4711462" y="366021"/>
                  </a:cubicBezTo>
                  <a:cubicBezTo>
                    <a:pt x="4740045" y="243972"/>
                    <a:pt x="4758307" y="119131"/>
                    <a:pt x="4804623" y="1142"/>
                  </a:cubicBezTo>
                  <a:cubicBezTo>
                    <a:pt x="9152483" y="1142"/>
                    <a:pt x="13500344" y="1142"/>
                    <a:pt x="17848204" y="0"/>
                  </a:cubicBezTo>
                  <a:cubicBezTo>
                    <a:pt x="17907224" y="0"/>
                    <a:pt x="17927337" y="6724"/>
                    <a:pt x="17927337" y="71428"/>
                  </a:cubicBezTo>
                  <a:cubicBezTo>
                    <a:pt x="17925750" y="6874966"/>
                    <a:pt x="17925750" y="13678504"/>
                    <a:pt x="17927867" y="20481788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3131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2700000"/>
            </a:gra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-182866"/>
            <a:ext cx="2512758" cy="3821416"/>
            <a:chOff x="0" y="0"/>
            <a:chExt cx="406400" cy="61805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06400" cy="618055"/>
            </a:xfrm>
            <a:custGeom>
              <a:avLst/>
              <a:gdLst/>
              <a:ahLst/>
              <a:cxnLst/>
              <a:rect r="r" b="b" t="t" l="l"/>
              <a:pathLst>
                <a:path h="618055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618055"/>
                  </a:lnTo>
                  <a:lnTo>
                    <a:pt x="0" y="618055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3131">
                    <a:alpha val="55000"/>
                  </a:srgbClr>
                </a:gs>
                <a:gs pos="100000">
                  <a:srgbClr val="FF914D">
                    <a:alpha val="5500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101600" y="-28575"/>
              <a:ext cx="203200" cy="6466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-660137" y="-182866"/>
            <a:ext cx="2512758" cy="3821416"/>
            <a:chOff x="0" y="0"/>
            <a:chExt cx="406400" cy="61805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06400" cy="618055"/>
            </a:xfrm>
            <a:custGeom>
              <a:avLst/>
              <a:gdLst/>
              <a:ahLst/>
              <a:cxnLst/>
              <a:rect r="r" b="b" t="t" l="l"/>
              <a:pathLst>
                <a:path h="618055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618055"/>
                  </a:lnTo>
                  <a:lnTo>
                    <a:pt x="0" y="618055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3131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101600" y="-28575"/>
              <a:ext cx="203200" cy="6466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7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2947535" y="0"/>
            <a:ext cx="6573487" cy="2226553"/>
          </a:xfrm>
          <a:custGeom>
            <a:avLst/>
            <a:gdLst/>
            <a:ahLst/>
            <a:cxnLst/>
            <a:rect r="r" b="b" t="t" l="l"/>
            <a:pathLst>
              <a:path h="2226553" w="6573487">
                <a:moveTo>
                  <a:pt x="0" y="0"/>
                </a:moveTo>
                <a:lnTo>
                  <a:pt x="6573487" y="0"/>
                </a:lnTo>
                <a:lnTo>
                  <a:pt x="6573487" y="2226553"/>
                </a:lnTo>
                <a:lnTo>
                  <a:pt x="0" y="22265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142357" y="937530"/>
            <a:ext cx="8988883" cy="4212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64"/>
              </a:lnSpc>
            </a:pPr>
            <a:r>
              <a:rPr lang="en-US" b="true" sz="21474">
                <a:solidFill>
                  <a:srgbClr val="FFFFFF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LIVE-LOT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42357" y="5200650"/>
            <a:ext cx="9262451" cy="568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2"/>
              </a:lnSpc>
            </a:pPr>
            <a:r>
              <a:rPr lang="en-US" sz="6605" i="true">
                <a:solidFill>
                  <a:srgbClr val="FFFFFF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MARKETING PLAN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42357" y="6055912"/>
            <a:ext cx="3349065" cy="434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5000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GROUP 17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1670096" y="4445244"/>
            <a:ext cx="7234277" cy="6395759"/>
          </a:xfrm>
          <a:custGeom>
            <a:avLst/>
            <a:gdLst/>
            <a:ahLst/>
            <a:cxnLst/>
            <a:rect r="r" b="b" t="t" l="l"/>
            <a:pathLst>
              <a:path h="6395759" w="7234277">
                <a:moveTo>
                  <a:pt x="0" y="0"/>
                </a:moveTo>
                <a:lnTo>
                  <a:pt x="7234276" y="0"/>
                </a:lnTo>
                <a:lnTo>
                  <a:pt x="7234276" y="6395760"/>
                </a:lnTo>
                <a:lnTo>
                  <a:pt x="0" y="63957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6555" r="0" b="-6555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442708" y="7195892"/>
            <a:ext cx="6197501" cy="3194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Intr</a:t>
            </a:r>
            <a:r>
              <a:rPr lang="en-US" b="true" sz="3599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o to Marketing Spring ’25​</a:t>
            </a:r>
          </a:p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Professor Bernstein​</a:t>
            </a:r>
          </a:p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Final Team Project​</a:t>
            </a:r>
          </a:p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Due December 2, 2025 </a:t>
            </a:r>
          </a:p>
          <a:p>
            <a:pPr algn="l">
              <a:lnSpc>
                <a:spcPts val="503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95680" y="1888414"/>
            <a:ext cx="17096641" cy="7996626"/>
            <a:chOff x="0" y="0"/>
            <a:chExt cx="4482881" cy="209678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82881" cy="2096782"/>
            </a:xfrm>
            <a:custGeom>
              <a:avLst/>
              <a:gdLst/>
              <a:ahLst/>
              <a:cxnLst/>
              <a:rect r="r" b="b" t="t" l="l"/>
              <a:pathLst>
                <a:path h="2096782" w="4482881">
                  <a:moveTo>
                    <a:pt x="0" y="0"/>
                  </a:moveTo>
                  <a:lnTo>
                    <a:pt x="4482881" y="0"/>
                  </a:lnTo>
                  <a:lnTo>
                    <a:pt x="4482881" y="2096782"/>
                  </a:lnTo>
                  <a:lnTo>
                    <a:pt x="0" y="2096782"/>
                  </a:lnTo>
                  <a:close/>
                </a:path>
              </a:pathLst>
            </a:custGeom>
            <a:solidFill>
              <a:srgbClr val="363636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4174691" y="6629108"/>
            <a:ext cx="1527538" cy="2063050"/>
            <a:chOff x="0" y="0"/>
            <a:chExt cx="523241" cy="70667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23241" cy="706674"/>
            </a:xfrm>
            <a:custGeom>
              <a:avLst/>
              <a:gdLst/>
              <a:ahLst/>
              <a:cxnLst/>
              <a:rect r="r" b="b" t="t" l="l"/>
              <a:pathLst>
                <a:path h="706674" w="523241">
                  <a:moveTo>
                    <a:pt x="203200" y="0"/>
                  </a:moveTo>
                  <a:lnTo>
                    <a:pt x="523241" y="0"/>
                  </a:lnTo>
                  <a:lnTo>
                    <a:pt x="320041" y="706674"/>
                  </a:lnTo>
                  <a:lnTo>
                    <a:pt x="0" y="706674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3131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-28575"/>
              <a:ext cx="320041" cy="735249"/>
            </a:xfrm>
            <a:prstGeom prst="rect">
              <a:avLst/>
            </a:prstGeom>
          </p:spPr>
          <p:txBody>
            <a:bodyPr anchor="ctr" rtlCol="false" tIns="41734" lIns="41734" bIns="41734" rIns="41734"/>
            <a:lstStyle/>
            <a:p>
              <a:pPr algn="ctr">
                <a:lnSpc>
                  <a:spcPts val="23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414478" y="6031334"/>
            <a:ext cx="3168343" cy="2660825"/>
            <a:chOff x="0" y="0"/>
            <a:chExt cx="894653" cy="75134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94653" cy="751344"/>
            </a:xfrm>
            <a:custGeom>
              <a:avLst/>
              <a:gdLst/>
              <a:ahLst/>
              <a:cxnLst/>
              <a:rect r="r" b="b" t="t" l="l"/>
              <a:pathLst>
                <a:path h="751344" w="894653">
                  <a:moveTo>
                    <a:pt x="203200" y="0"/>
                  </a:moveTo>
                  <a:lnTo>
                    <a:pt x="894653" y="0"/>
                  </a:lnTo>
                  <a:lnTo>
                    <a:pt x="691453" y="751344"/>
                  </a:lnTo>
                  <a:lnTo>
                    <a:pt x="0" y="751344"/>
                  </a:lnTo>
                  <a:lnTo>
                    <a:pt x="203200" y="0"/>
                  </a:lnTo>
                  <a:close/>
                </a:path>
              </a:pathLst>
            </a:custGeom>
            <a:blipFill>
              <a:blip r:embed="rId3"/>
              <a:stretch>
                <a:fillRect l="-6956" t="-29116" r="-7235" b="-74843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3466259" y="6706668"/>
            <a:ext cx="1527538" cy="2063050"/>
            <a:chOff x="0" y="0"/>
            <a:chExt cx="523241" cy="70667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23241" cy="706674"/>
            </a:xfrm>
            <a:custGeom>
              <a:avLst/>
              <a:gdLst/>
              <a:ahLst/>
              <a:cxnLst/>
              <a:rect r="r" b="b" t="t" l="l"/>
              <a:pathLst>
                <a:path h="706674" w="523241">
                  <a:moveTo>
                    <a:pt x="203200" y="0"/>
                  </a:moveTo>
                  <a:lnTo>
                    <a:pt x="523241" y="0"/>
                  </a:lnTo>
                  <a:lnTo>
                    <a:pt x="320041" y="706674"/>
                  </a:lnTo>
                  <a:lnTo>
                    <a:pt x="0" y="706674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3131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101600" y="-28575"/>
              <a:ext cx="320041" cy="735249"/>
            </a:xfrm>
            <a:prstGeom prst="rect">
              <a:avLst/>
            </a:prstGeom>
          </p:spPr>
          <p:txBody>
            <a:bodyPr anchor="ctr" rtlCol="false" tIns="41734" lIns="41734" bIns="41734" rIns="41734"/>
            <a:lstStyle/>
            <a:p>
              <a:pPr algn="ctr">
                <a:lnSpc>
                  <a:spcPts val="23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706045" y="6108894"/>
            <a:ext cx="3168343" cy="2660825"/>
            <a:chOff x="0" y="0"/>
            <a:chExt cx="894653" cy="75134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94653" cy="751344"/>
            </a:xfrm>
            <a:custGeom>
              <a:avLst/>
              <a:gdLst/>
              <a:ahLst/>
              <a:cxnLst/>
              <a:rect r="r" b="b" t="t" l="l"/>
              <a:pathLst>
                <a:path h="751344" w="894653">
                  <a:moveTo>
                    <a:pt x="203200" y="0"/>
                  </a:moveTo>
                  <a:lnTo>
                    <a:pt x="894653" y="0"/>
                  </a:lnTo>
                  <a:lnTo>
                    <a:pt x="691453" y="751344"/>
                  </a:lnTo>
                  <a:lnTo>
                    <a:pt x="0" y="751344"/>
                  </a:lnTo>
                  <a:lnTo>
                    <a:pt x="203200" y="0"/>
                  </a:lnTo>
                  <a:close/>
                </a:path>
              </a:pathLst>
            </a:custGeom>
            <a:blipFill>
              <a:blip r:embed="rId4"/>
              <a:stretch>
                <a:fillRect l="-14779" t="0" r="-16069" b="0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5084910" y="3080908"/>
            <a:ext cx="1527538" cy="2063050"/>
            <a:chOff x="0" y="0"/>
            <a:chExt cx="523241" cy="70667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23241" cy="706674"/>
            </a:xfrm>
            <a:custGeom>
              <a:avLst/>
              <a:gdLst/>
              <a:ahLst/>
              <a:cxnLst/>
              <a:rect r="r" b="b" t="t" l="l"/>
              <a:pathLst>
                <a:path h="706674" w="523241">
                  <a:moveTo>
                    <a:pt x="203200" y="0"/>
                  </a:moveTo>
                  <a:lnTo>
                    <a:pt x="523241" y="0"/>
                  </a:lnTo>
                  <a:lnTo>
                    <a:pt x="320041" y="706674"/>
                  </a:lnTo>
                  <a:lnTo>
                    <a:pt x="0" y="706674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3131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101600" y="-28575"/>
              <a:ext cx="320041" cy="735249"/>
            </a:xfrm>
            <a:prstGeom prst="rect">
              <a:avLst/>
            </a:prstGeom>
          </p:spPr>
          <p:txBody>
            <a:bodyPr anchor="ctr" rtlCol="false" tIns="41734" lIns="41734" bIns="41734" rIns="41734"/>
            <a:lstStyle/>
            <a:p>
              <a:pPr algn="ctr">
                <a:lnSpc>
                  <a:spcPts val="237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267028" y="3158468"/>
            <a:ext cx="1527538" cy="2063050"/>
            <a:chOff x="0" y="0"/>
            <a:chExt cx="523241" cy="70667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3241" cy="706674"/>
            </a:xfrm>
            <a:custGeom>
              <a:avLst/>
              <a:gdLst/>
              <a:ahLst/>
              <a:cxnLst/>
              <a:rect r="r" b="b" t="t" l="l"/>
              <a:pathLst>
                <a:path h="706674" w="523241">
                  <a:moveTo>
                    <a:pt x="203200" y="0"/>
                  </a:moveTo>
                  <a:lnTo>
                    <a:pt x="523241" y="0"/>
                  </a:lnTo>
                  <a:lnTo>
                    <a:pt x="320041" y="706674"/>
                  </a:lnTo>
                  <a:lnTo>
                    <a:pt x="0" y="706674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3131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101600" y="-28575"/>
              <a:ext cx="320041" cy="735249"/>
            </a:xfrm>
            <a:prstGeom prst="rect">
              <a:avLst/>
            </a:prstGeom>
          </p:spPr>
          <p:txBody>
            <a:bodyPr anchor="ctr" rtlCol="false" tIns="41734" lIns="41734" bIns="41734" rIns="41734"/>
            <a:lstStyle/>
            <a:p>
              <a:pPr algn="ctr">
                <a:lnSpc>
                  <a:spcPts val="237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2506814" y="2560694"/>
            <a:ext cx="3168343" cy="2660825"/>
            <a:chOff x="0" y="0"/>
            <a:chExt cx="894653" cy="75134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94653" cy="751344"/>
            </a:xfrm>
            <a:custGeom>
              <a:avLst/>
              <a:gdLst/>
              <a:ahLst/>
              <a:cxnLst/>
              <a:rect r="r" b="b" t="t" l="l"/>
              <a:pathLst>
                <a:path h="751344" w="894653">
                  <a:moveTo>
                    <a:pt x="203200" y="0"/>
                  </a:moveTo>
                  <a:lnTo>
                    <a:pt x="894653" y="0"/>
                  </a:lnTo>
                  <a:lnTo>
                    <a:pt x="691453" y="751344"/>
                  </a:lnTo>
                  <a:lnTo>
                    <a:pt x="0" y="751344"/>
                  </a:lnTo>
                  <a:lnTo>
                    <a:pt x="203200" y="0"/>
                  </a:lnTo>
                  <a:close/>
                </a:path>
              </a:pathLst>
            </a:custGeom>
            <a:blipFill>
              <a:blip r:embed="rId5"/>
              <a:stretch>
                <a:fillRect l="0" t="-18742" r="0" b="-25152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3324696" y="2483134"/>
            <a:ext cx="3168343" cy="2660825"/>
            <a:chOff x="0" y="0"/>
            <a:chExt cx="894653" cy="75134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94653" cy="751344"/>
            </a:xfrm>
            <a:custGeom>
              <a:avLst/>
              <a:gdLst/>
              <a:ahLst/>
              <a:cxnLst/>
              <a:rect r="r" b="b" t="t" l="l"/>
              <a:pathLst>
                <a:path h="751344" w="894653">
                  <a:moveTo>
                    <a:pt x="203200" y="0"/>
                  </a:moveTo>
                  <a:lnTo>
                    <a:pt x="894653" y="0"/>
                  </a:lnTo>
                  <a:lnTo>
                    <a:pt x="691453" y="751344"/>
                  </a:lnTo>
                  <a:lnTo>
                    <a:pt x="0" y="751344"/>
                  </a:lnTo>
                  <a:lnTo>
                    <a:pt x="203200" y="0"/>
                  </a:lnTo>
                  <a:close/>
                </a:path>
              </a:pathLst>
            </a:custGeom>
            <a:blipFill>
              <a:blip r:embed="rId6"/>
              <a:stretch>
                <a:fillRect l="0" t="-31357" r="0" b="-47578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7067976" y="6706668"/>
            <a:ext cx="1527538" cy="2063050"/>
            <a:chOff x="0" y="0"/>
            <a:chExt cx="523241" cy="70667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23241" cy="706674"/>
            </a:xfrm>
            <a:custGeom>
              <a:avLst/>
              <a:gdLst/>
              <a:ahLst/>
              <a:cxnLst/>
              <a:rect r="r" b="b" t="t" l="l"/>
              <a:pathLst>
                <a:path h="706674" w="523241">
                  <a:moveTo>
                    <a:pt x="203200" y="0"/>
                  </a:moveTo>
                  <a:lnTo>
                    <a:pt x="523241" y="0"/>
                  </a:lnTo>
                  <a:lnTo>
                    <a:pt x="320041" y="706674"/>
                  </a:lnTo>
                  <a:lnTo>
                    <a:pt x="0" y="706674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3131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7" id="27"/>
            <p:cNvSpPr txBox="true"/>
            <p:nvPr/>
          </p:nvSpPr>
          <p:spPr>
            <a:xfrm>
              <a:off x="101600" y="-28575"/>
              <a:ext cx="320041" cy="735249"/>
            </a:xfrm>
            <a:prstGeom prst="rect">
              <a:avLst/>
            </a:prstGeom>
          </p:spPr>
          <p:txBody>
            <a:bodyPr anchor="ctr" rtlCol="false" tIns="41734" lIns="41734" bIns="41734" rIns="41734"/>
            <a:lstStyle/>
            <a:p>
              <a:pPr algn="ctr">
                <a:lnSpc>
                  <a:spcPts val="237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5307763" y="6108894"/>
            <a:ext cx="3168343" cy="2660825"/>
            <a:chOff x="0" y="0"/>
            <a:chExt cx="894653" cy="75134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94653" cy="751344"/>
            </a:xfrm>
            <a:custGeom>
              <a:avLst/>
              <a:gdLst/>
              <a:ahLst/>
              <a:cxnLst/>
              <a:rect r="r" b="b" t="t" l="l"/>
              <a:pathLst>
                <a:path h="751344" w="894653">
                  <a:moveTo>
                    <a:pt x="203200" y="0"/>
                  </a:moveTo>
                  <a:lnTo>
                    <a:pt x="894653" y="0"/>
                  </a:lnTo>
                  <a:lnTo>
                    <a:pt x="691453" y="751344"/>
                  </a:lnTo>
                  <a:lnTo>
                    <a:pt x="0" y="751344"/>
                  </a:lnTo>
                  <a:lnTo>
                    <a:pt x="203200" y="0"/>
                  </a:lnTo>
                  <a:close/>
                </a:path>
              </a:pathLst>
            </a:custGeom>
            <a:blipFill>
              <a:blip r:embed="rId7"/>
              <a:stretch>
                <a:fillRect l="0" t="-9536" r="0" b="-9536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7978195" y="3158468"/>
            <a:ext cx="1527538" cy="2063050"/>
            <a:chOff x="0" y="0"/>
            <a:chExt cx="523241" cy="70667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23241" cy="706674"/>
            </a:xfrm>
            <a:custGeom>
              <a:avLst/>
              <a:gdLst/>
              <a:ahLst/>
              <a:cxnLst/>
              <a:rect r="r" b="b" t="t" l="l"/>
              <a:pathLst>
                <a:path h="706674" w="523241">
                  <a:moveTo>
                    <a:pt x="203200" y="0"/>
                  </a:moveTo>
                  <a:lnTo>
                    <a:pt x="523241" y="0"/>
                  </a:lnTo>
                  <a:lnTo>
                    <a:pt x="320041" y="706674"/>
                  </a:lnTo>
                  <a:lnTo>
                    <a:pt x="0" y="706674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3131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2" id="32"/>
            <p:cNvSpPr txBox="true"/>
            <p:nvPr/>
          </p:nvSpPr>
          <p:spPr>
            <a:xfrm>
              <a:off x="101600" y="-28575"/>
              <a:ext cx="320041" cy="735249"/>
            </a:xfrm>
            <a:prstGeom prst="rect">
              <a:avLst/>
            </a:prstGeom>
          </p:spPr>
          <p:txBody>
            <a:bodyPr anchor="ctr" rtlCol="false" tIns="41734" lIns="41734" bIns="41734" rIns="41734"/>
            <a:lstStyle/>
            <a:p>
              <a:pPr algn="ctr">
                <a:lnSpc>
                  <a:spcPts val="237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6217982" y="2560694"/>
            <a:ext cx="3168343" cy="2660825"/>
            <a:chOff x="0" y="0"/>
            <a:chExt cx="894653" cy="75134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94653" cy="751344"/>
            </a:xfrm>
            <a:custGeom>
              <a:avLst/>
              <a:gdLst/>
              <a:ahLst/>
              <a:cxnLst/>
              <a:rect r="r" b="b" t="t" l="l"/>
              <a:pathLst>
                <a:path h="751344" w="894653">
                  <a:moveTo>
                    <a:pt x="203200" y="0"/>
                  </a:moveTo>
                  <a:lnTo>
                    <a:pt x="894653" y="0"/>
                  </a:lnTo>
                  <a:lnTo>
                    <a:pt x="691453" y="751344"/>
                  </a:lnTo>
                  <a:lnTo>
                    <a:pt x="0" y="751344"/>
                  </a:lnTo>
                  <a:lnTo>
                    <a:pt x="203200" y="0"/>
                  </a:lnTo>
                  <a:close/>
                </a:path>
              </a:pathLst>
            </a:custGeom>
            <a:blipFill>
              <a:blip r:embed="rId8"/>
              <a:stretch>
                <a:fillRect l="0" t="-25708" r="0" b="-56605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0600445" y="6696850"/>
            <a:ext cx="1527538" cy="2063050"/>
            <a:chOff x="0" y="0"/>
            <a:chExt cx="523241" cy="70667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23241" cy="706674"/>
            </a:xfrm>
            <a:custGeom>
              <a:avLst/>
              <a:gdLst/>
              <a:ahLst/>
              <a:cxnLst/>
              <a:rect r="r" b="b" t="t" l="l"/>
              <a:pathLst>
                <a:path h="706674" w="523241">
                  <a:moveTo>
                    <a:pt x="203200" y="0"/>
                  </a:moveTo>
                  <a:lnTo>
                    <a:pt x="523241" y="0"/>
                  </a:lnTo>
                  <a:lnTo>
                    <a:pt x="320041" y="706674"/>
                  </a:lnTo>
                  <a:lnTo>
                    <a:pt x="0" y="706674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3131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7" id="37"/>
            <p:cNvSpPr txBox="true"/>
            <p:nvPr/>
          </p:nvSpPr>
          <p:spPr>
            <a:xfrm>
              <a:off x="101600" y="-28575"/>
              <a:ext cx="320041" cy="735249"/>
            </a:xfrm>
            <a:prstGeom prst="rect">
              <a:avLst/>
            </a:prstGeom>
          </p:spPr>
          <p:txBody>
            <a:bodyPr anchor="ctr" rtlCol="false" tIns="41734" lIns="41734" bIns="41734" rIns="41734"/>
            <a:lstStyle/>
            <a:p>
              <a:pPr algn="ctr">
                <a:lnSpc>
                  <a:spcPts val="237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8840232" y="6099075"/>
            <a:ext cx="3168343" cy="2660825"/>
            <a:chOff x="0" y="0"/>
            <a:chExt cx="894653" cy="75134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94653" cy="751344"/>
            </a:xfrm>
            <a:custGeom>
              <a:avLst/>
              <a:gdLst/>
              <a:ahLst/>
              <a:cxnLst/>
              <a:rect r="r" b="b" t="t" l="l"/>
              <a:pathLst>
                <a:path h="751344" w="894653">
                  <a:moveTo>
                    <a:pt x="203200" y="0"/>
                  </a:moveTo>
                  <a:lnTo>
                    <a:pt x="894653" y="0"/>
                  </a:lnTo>
                  <a:lnTo>
                    <a:pt x="691453" y="751344"/>
                  </a:lnTo>
                  <a:lnTo>
                    <a:pt x="0" y="751344"/>
                  </a:lnTo>
                  <a:lnTo>
                    <a:pt x="203200" y="0"/>
                  </a:lnTo>
                  <a:close/>
                </a:path>
              </a:pathLst>
            </a:custGeom>
            <a:blipFill>
              <a:blip r:embed="rId9"/>
              <a:stretch>
                <a:fillRect l="0" t="-5737" r="0" b="-43104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1510664" y="3148650"/>
            <a:ext cx="1527538" cy="2063050"/>
            <a:chOff x="0" y="0"/>
            <a:chExt cx="523241" cy="70667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23241" cy="706674"/>
            </a:xfrm>
            <a:custGeom>
              <a:avLst/>
              <a:gdLst/>
              <a:ahLst/>
              <a:cxnLst/>
              <a:rect r="r" b="b" t="t" l="l"/>
              <a:pathLst>
                <a:path h="706674" w="523241">
                  <a:moveTo>
                    <a:pt x="203200" y="0"/>
                  </a:moveTo>
                  <a:lnTo>
                    <a:pt x="523241" y="0"/>
                  </a:lnTo>
                  <a:lnTo>
                    <a:pt x="320041" y="706674"/>
                  </a:lnTo>
                  <a:lnTo>
                    <a:pt x="0" y="706674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3131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2" id="42"/>
            <p:cNvSpPr txBox="true"/>
            <p:nvPr/>
          </p:nvSpPr>
          <p:spPr>
            <a:xfrm>
              <a:off x="101600" y="-28575"/>
              <a:ext cx="320041" cy="735249"/>
            </a:xfrm>
            <a:prstGeom prst="rect">
              <a:avLst/>
            </a:prstGeom>
          </p:spPr>
          <p:txBody>
            <a:bodyPr anchor="ctr" rtlCol="false" tIns="41734" lIns="41734" bIns="41734" rIns="41734"/>
            <a:lstStyle/>
            <a:p>
              <a:pPr algn="ctr">
                <a:lnSpc>
                  <a:spcPts val="2379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815797" y="2550875"/>
            <a:ext cx="3129908" cy="2628546"/>
            <a:chOff x="0" y="0"/>
            <a:chExt cx="894653" cy="75134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94653" cy="751344"/>
            </a:xfrm>
            <a:custGeom>
              <a:avLst/>
              <a:gdLst/>
              <a:ahLst/>
              <a:cxnLst/>
              <a:rect r="r" b="b" t="t" l="l"/>
              <a:pathLst>
                <a:path h="751344" w="894653">
                  <a:moveTo>
                    <a:pt x="203200" y="0"/>
                  </a:moveTo>
                  <a:lnTo>
                    <a:pt x="894653" y="0"/>
                  </a:lnTo>
                  <a:lnTo>
                    <a:pt x="691453" y="751344"/>
                  </a:lnTo>
                  <a:lnTo>
                    <a:pt x="0" y="751344"/>
                  </a:lnTo>
                  <a:lnTo>
                    <a:pt x="203200" y="0"/>
                  </a:lnTo>
                  <a:close/>
                </a:path>
              </a:pathLst>
            </a:custGeom>
            <a:blipFill>
              <a:blip r:embed="rId10"/>
              <a:stretch>
                <a:fillRect l="0" t="-78950" r="0" b="-92442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0" y="10557"/>
            <a:ext cx="18620738" cy="1629451"/>
            <a:chOff x="0" y="0"/>
            <a:chExt cx="24827651" cy="2172602"/>
          </a:xfrm>
        </p:grpSpPr>
        <p:grpSp>
          <p:nvGrpSpPr>
            <p:cNvPr name="Group 46" id="46"/>
            <p:cNvGrpSpPr/>
            <p:nvPr/>
          </p:nvGrpSpPr>
          <p:grpSpPr>
            <a:xfrm rot="0">
              <a:off x="0" y="0"/>
              <a:ext cx="24827651" cy="2172602"/>
              <a:chOff x="0" y="0"/>
              <a:chExt cx="2884840" cy="252445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2884840" cy="252445"/>
              </a:xfrm>
              <a:custGeom>
                <a:avLst/>
                <a:gdLst/>
                <a:ahLst/>
                <a:cxnLst/>
                <a:rect r="r" b="b" t="t" l="l"/>
                <a:pathLst>
                  <a:path h="252445" w="2884840">
                    <a:moveTo>
                      <a:pt x="0" y="0"/>
                    </a:moveTo>
                    <a:lnTo>
                      <a:pt x="2884840" y="0"/>
                    </a:lnTo>
                    <a:lnTo>
                      <a:pt x="2884840" y="252445"/>
                    </a:lnTo>
                    <a:lnTo>
                      <a:pt x="0" y="252445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F3131">
                      <a:alpha val="100000"/>
                    </a:srgbClr>
                  </a:gs>
                  <a:gs pos="100000">
                    <a:srgbClr val="FF914D">
                      <a:alpha val="100000"/>
                    </a:srgbClr>
                  </a:gs>
                </a:gsLst>
                <a:lin ang="2700000"/>
              </a:gradFill>
            </p:spPr>
          </p:sp>
        </p:grpSp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584084" cy="2172602"/>
            </a:xfrm>
            <a:custGeom>
              <a:avLst/>
              <a:gdLst/>
              <a:ahLst/>
              <a:cxnLst/>
              <a:rect r="r" b="b" t="t" l="l"/>
              <a:pathLst>
                <a:path h="2172602" w="2584084">
                  <a:moveTo>
                    <a:pt x="0" y="0"/>
                  </a:moveTo>
                  <a:lnTo>
                    <a:pt x="2584084" y="0"/>
                  </a:lnTo>
                  <a:lnTo>
                    <a:pt x="2584084" y="2172602"/>
                  </a:lnTo>
                  <a:lnTo>
                    <a:pt x="0" y="21726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9469" r="0" b="-9469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 rot="0">
              <a:off x="2766562" y="-176080"/>
              <a:ext cx="20823199" cy="21247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2239"/>
                </a:lnSpc>
              </a:pPr>
              <a:r>
                <a:rPr lang="en-US" sz="8499" b="true">
                  <a:solidFill>
                    <a:srgbClr val="FFFFFF"/>
                  </a:solidFill>
                  <a:latin typeface="Heading Now 31-38 Bold"/>
                  <a:ea typeface="Heading Now 31-38 Bold"/>
                  <a:cs typeface="Heading Now 31-38 Bold"/>
                  <a:sym typeface="Heading Now 31-38 Bold"/>
                </a:rPr>
                <a:t>MEET THE TEAM - GROUP 17</a:t>
              </a: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12298462" y="9128636"/>
            <a:ext cx="3287751" cy="320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0"/>
              </a:lnSpc>
              <a:spcBef>
                <a:spcPct val="0"/>
              </a:spcBef>
            </a:pPr>
            <a:r>
              <a:rPr lang="en-US" sz="2000" i="true">
                <a:solidFill>
                  <a:srgbClr val="FFFFFF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Situation Analysis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675552" y="9221208"/>
            <a:ext cx="2190041" cy="60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1"/>
              </a:lnSpc>
              <a:spcBef>
                <a:spcPct val="0"/>
              </a:spcBef>
            </a:pPr>
            <a:r>
              <a:rPr lang="en-US" sz="1869" i="true">
                <a:solidFill>
                  <a:srgbClr val="FFFFFF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Environmental SWOT Analyst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2383985" y="8680794"/>
            <a:ext cx="4228463" cy="436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6"/>
              </a:lnSpc>
              <a:spcBef>
                <a:spcPct val="0"/>
              </a:spcBef>
            </a:pPr>
            <a:r>
              <a:rPr lang="en-US" b="true" sz="2617" spc="-143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Anjali Yadava 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675552" y="8758354"/>
            <a:ext cx="2800949" cy="436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6"/>
              </a:lnSpc>
              <a:spcBef>
                <a:spcPct val="0"/>
              </a:spcBef>
            </a:pPr>
            <a:r>
              <a:rPr lang="en-US" b="true" sz="2617" spc="-143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Hamza Moosavi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2476321" y="5210154"/>
            <a:ext cx="2800949" cy="436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6"/>
              </a:lnSpc>
              <a:spcBef>
                <a:spcPct val="0"/>
              </a:spcBef>
            </a:pPr>
            <a:r>
              <a:rPr lang="en-US" b="true" sz="2617" spc="-143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Jahsair Acrey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2467893" y="5656488"/>
            <a:ext cx="2562904" cy="284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2"/>
              </a:lnSpc>
              <a:spcBef>
                <a:spcPct val="0"/>
              </a:spcBef>
            </a:pPr>
            <a:r>
              <a:rPr lang="en-US" sz="1800" i="true">
                <a:solidFill>
                  <a:srgbClr val="FFFFFF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Competition Analyst 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5307763" y="9201571"/>
            <a:ext cx="2670432" cy="284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2"/>
              </a:lnSpc>
              <a:spcBef>
                <a:spcPct val="0"/>
              </a:spcBef>
            </a:pPr>
            <a:r>
              <a:rPr lang="en-US" sz="1800" i="true">
                <a:solidFill>
                  <a:srgbClr val="FFFFFF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Marketing Mix Strategy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5277270" y="8758354"/>
            <a:ext cx="2800949" cy="436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6"/>
              </a:lnSpc>
              <a:spcBef>
                <a:spcPct val="0"/>
              </a:spcBef>
            </a:pPr>
            <a:r>
              <a:rPr lang="en-US" b="true" sz="2617" spc="-143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Rhea Patel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6187489" y="5210154"/>
            <a:ext cx="2800949" cy="436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6"/>
              </a:lnSpc>
              <a:spcBef>
                <a:spcPct val="0"/>
              </a:spcBef>
            </a:pPr>
            <a:r>
              <a:rPr lang="en-US" b="true" sz="2617" spc="-143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Isabella Bedetto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6187489" y="5615103"/>
            <a:ext cx="3009603" cy="320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0"/>
              </a:lnSpc>
              <a:spcBef>
                <a:spcPct val="0"/>
              </a:spcBef>
            </a:pPr>
            <a:r>
              <a:rPr lang="en-US" sz="2000" i="true">
                <a:solidFill>
                  <a:srgbClr val="FFFFFF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Industry Analysis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3294203" y="5132594"/>
            <a:ext cx="2800949" cy="436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6"/>
              </a:lnSpc>
              <a:spcBef>
                <a:spcPct val="0"/>
              </a:spcBef>
            </a:pPr>
            <a:r>
              <a:rPr lang="en-US" b="true" sz="2617" spc="-143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Nicholas Iwaszko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3324696" y="5575811"/>
            <a:ext cx="3631609" cy="320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0"/>
              </a:lnSpc>
              <a:spcBef>
                <a:spcPct val="0"/>
              </a:spcBef>
            </a:pPr>
            <a:r>
              <a:rPr lang="en-US" sz="2000" i="true">
                <a:solidFill>
                  <a:srgbClr val="FFFFFF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Target Audience/Personas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8840232" y="9191752"/>
            <a:ext cx="2190041" cy="320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0"/>
              </a:lnSpc>
              <a:spcBef>
                <a:spcPct val="0"/>
              </a:spcBef>
            </a:pPr>
            <a:r>
              <a:rPr lang="en-US" sz="2000" i="true">
                <a:solidFill>
                  <a:srgbClr val="FFFFFF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Marketing Goals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8809739" y="8748536"/>
            <a:ext cx="2800949" cy="436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6"/>
              </a:lnSpc>
              <a:spcBef>
                <a:spcPct val="0"/>
              </a:spcBef>
            </a:pPr>
            <a:r>
              <a:rPr lang="en-US" b="true" sz="2617" spc="-143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Rohan Patel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9629798" y="5643552"/>
            <a:ext cx="2800949" cy="333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6"/>
              </a:lnSpc>
              <a:spcBef>
                <a:spcPct val="0"/>
              </a:spcBef>
            </a:pPr>
            <a:r>
              <a:rPr lang="en-US" sz="2090" i="true">
                <a:solidFill>
                  <a:srgbClr val="FFFFFF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Evaluation &amp; Control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9629798" y="5198471"/>
            <a:ext cx="2800949" cy="436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6"/>
              </a:lnSpc>
              <a:spcBef>
                <a:spcPct val="0"/>
              </a:spcBef>
            </a:pPr>
            <a:r>
              <a:rPr lang="en-US" b="true" sz="2617" spc="-143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Toby Hsuan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95680" y="1888414"/>
            <a:ext cx="17096641" cy="7996626"/>
            <a:chOff x="0" y="0"/>
            <a:chExt cx="4482881" cy="209678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82881" cy="2096782"/>
            </a:xfrm>
            <a:custGeom>
              <a:avLst/>
              <a:gdLst/>
              <a:ahLst/>
              <a:cxnLst/>
              <a:rect r="r" b="b" t="t" l="l"/>
              <a:pathLst>
                <a:path h="2096782" w="4482881">
                  <a:moveTo>
                    <a:pt x="0" y="0"/>
                  </a:moveTo>
                  <a:lnTo>
                    <a:pt x="4482881" y="0"/>
                  </a:lnTo>
                  <a:lnTo>
                    <a:pt x="4482881" y="2096782"/>
                  </a:lnTo>
                  <a:lnTo>
                    <a:pt x="0" y="2096782"/>
                  </a:lnTo>
                  <a:close/>
                </a:path>
              </a:pathLst>
            </a:custGeom>
            <a:solidFill>
              <a:srgbClr val="363636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595680" y="2100070"/>
            <a:ext cx="10670293" cy="7459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02497" indent="-551248" lvl="1">
              <a:lnSpc>
                <a:spcPts val="6587"/>
              </a:lnSpc>
              <a:buFont typeface="Arial"/>
              <a:buChar char="•"/>
            </a:pPr>
            <a:r>
              <a:rPr lang="en-US" sz="5106" spc="-28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Team Introductions</a:t>
            </a:r>
          </a:p>
          <a:p>
            <a:pPr algn="l" marL="1102497" indent="-551248" lvl="1">
              <a:lnSpc>
                <a:spcPts val="6587"/>
              </a:lnSpc>
              <a:buFont typeface="Arial"/>
              <a:buChar char="•"/>
            </a:pPr>
            <a:r>
              <a:rPr lang="en-US" sz="5106" spc="-28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Executive Summary</a:t>
            </a:r>
          </a:p>
          <a:p>
            <a:pPr algn="l" marL="1102497" indent="-551248" lvl="1">
              <a:lnSpc>
                <a:spcPts val="6587"/>
              </a:lnSpc>
              <a:buFont typeface="Arial"/>
              <a:buChar char="•"/>
            </a:pPr>
            <a:r>
              <a:rPr lang="en-US" sz="5106" spc="-28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Situational Analysis</a:t>
            </a:r>
          </a:p>
          <a:p>
            <a:pPr algn="l" marL="1102497" indent="-551248" lvl="1">
              <a:lnSpc>
                <a:spcPts val="6587"/>
              </a:lnSpc>
              <a:buFont typeface="Arial"/>
              <a:buChar char="•"/>
            </a:pPr>
            <a:r>
              <a:rPr lang="en-US" sz="5106" spc="-28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Competitive Analysis </a:t>
            </a:r>
          </a:p>
          <a:p>
            <a:pPr algn="l" marL="1102497" indent="-551248" lvl="1">
              <a:lnSpc>
                <a:spcPts val="6587"/>
              </a:lnSpc>
              <a:buFont typeface="Arial"/>
              <a:buChar char="•"/>
            </a:pPr>
            <a:r>
              <a:rPr lang="en-US" sz="5106" spc="-28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Environmental Analysis</a:t>
            </a:r>
          </a:p>
          <a:p>
            <a:pPr algn="l" marL="1102497" indent="-551248" lvl="1">
              <a:lnSpc>
                <a:spcPts val="6587"/>
              </a:lnSpc>
              <a:buFont typeface="Arial"/>
              <a:buChar char="•"/>
            </a:pPr>
            <a:r>
              <a:rPr lang="en-US" sz="5106" spc="-28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Target  Audience</a:t>
            </a:r>
          </a:p>
          <a:p>
            <a:pPr algn="l" marL="1102497" indent="-551248" lvl="1">
              <a:lnSpc>
                <a:spcPts val="6587"/>
              </a:lnSpc>
              <a:buFont typeface="Arial"/>
              <a:buChar char="•"/>
            </a:pPr>
            <a:r>
              <a:rPr lang="en-US" sz="5106" spc="-28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Marketing Objectives and Goals</a:t>
            </a:r>
          </a:p>
          <a:p>
            <a:pPr algn="l" marL="1102497" indent="-551248" lvl="1">
              <a:lnSpc>
                <a:spcPts val="6587"/>
              </a:lnSpc>
              <a:buFont typeface="Arial"/>
              <a:buChar char="•"/>
            </a:pPr>
            <a:r>
              <a:rPr lang="en-US" sz="5106" spc="-28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Marketing Strategies (Mix)</a:t>
            </a:r>
          </a:p>
          <a:p>
            <a:pPr algn="l" marL="1102497" indent="-551248" lvl="1">
              <a:lnSpc>
                <a:spcPts val="6587"/>
              </a:lnSpc>
              <a:buFont typeface="Arial"/>
              <a:buChar char="•"/>
            </a:pPr>
            <a:r>
              <a:rPr lang="en-US" sz="5106" spc="-28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Evaluation &amp; Control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1156229" y="1888414"/>
            <a:ext cx="5936602" cy="7949410"/>
            <a:chOff x="0" y="0"/>
            <a:chExt cx="1049920" cy="140589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49920" cy="1405896"/>
            </a:xfrm>
            <a:custGeom>
              <a:avLst/>
              <a:gdLst/>
              <a:ahLst/>
              <a:cxnLst/>
              <a:rect r="r" b="b" t="t" l="l"/>
              <a:pathLst>
                <a:path h="1405896" w="1049920">
                  <a:moveTo>
                    <a:pt x="0" y="0"/>
                  </a:moveTo>
                  <a:lnTo>
                    <a:pt x="1049920" y="0"/>
                  </a:lnTo>
                  <a:lnTo>
                    <a:pt x="1049920" y="1405896"/>
                  </a:lnTo>
                  <a:lnTo>
                    <a:pt x="0" y="1405896"/>
                  </a:lnTo>
                  <a:close/>
                </a:path>
              </a:pathLst>
            </a:custGeom>
            <a:gradFill rotWithShape="true">
              <a:gsLst>
                <a:gs pos="0">
                  <a:srgbClr val="FF3131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10557"/>
            <a:ext cx="18620738" cy="1629451"/>
            <a:chOff x="0" y="0"/>
            <a:chExt cx="24827651" cy="2172602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24827651" cy="2172602"/>
              <a:chOff x="0" y="0"/>
              <a:chExt cx="2884840" cy="25244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884840" cy="252445"/>
              </a:xfrm>
              <a:custGeom>
                <a:avLst/>
                <a:gdLst/>
                <a:ahLst/>
                <a:cxnLst/>
                <a:rect r="r" b="b" t="t" l="l"/>
                <a:pathLst>
                  <a:path h="252445" w="2884840">
                    <a:moveTo>
                      <a:pt x="0" y="0"/>
                    </a:moveTo>
                    <a:lnTo>
                      <a:pt x="2884840" y="0"/>
                    </a:lnTo>
                    <a:lnTo>
                      <a:pt x="2884840" y="252445"/>
                    </a:lnTo>
                    <a:lnTo>
                      <a:pt x="0" y="252445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F3131">
                      <a:alpha val="100000"/>
                    </a:srgbClr>
                  </a:gs>
                  <a:gs pos="100000">
                    <a:srgbClr val="FF914D">
                      <a:alpha val="100000"/>
                    </a:srgbClr>
                  </a:gs>
                </a:gsLst>
                <a:lin ang="2700000"/>
              </a:gradFill>
            </p:spPr>
          </p:sp>
        </p:grp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84084" cy="2172602"/>
            </a:xfrm>
            <a:custGeom>
              <a:avLst/>
              <a:gdLst/>
              <a:ahLst/>
              <a:cxnLst/>
              <a:rect r="r" b="b" t="t" l="l"/>
              <a:pathLst>
                <a:path h="2172602" w="2584084">
                  <a:moveTo>
                    <a:pt x="0" y="0"/>
                  </a:moveTo>
                  <a:lnTo>
                    <a:pt x="2584084" y="0"/>
                  </a:lnTo>
                  <a:lnTo>
                    <a:pt x="2584084" y="2172602"/>
                  </a:lnTo>
                  <a:lnTo>
                    <a:pt x="0" y="21726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9469" r="0" b="-946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2766562" y="-176080"/>
              <a:ext cx="20823199" cy="21247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2239"/>
                </a:lnSpc>
              </a:pPr>
              <a:r>
                <a:rPr lang="en-US" sz="8499" b="true">
                  <a:solidFill>
                    <a:srgbClr val="FFFFFF"/>
                  </a:solidFill>
                  <a:latin typeface="Heading Now 31-38 Bold"/>
                  <a:ea typeface="Heading Now 31-38 Bold"/>
                  <a:cs typeface="Heading Now 31-38 Bold"/>
                  <a:sym typeface="Heading Now 31-38 Bold"/>
                </a:rPr>
                <a:t>TABLE OF CONTENTS 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0953361" y="100585"/>
            <a:ext cx="6305939" cy="9458908"/>
          </a:xfrm>
          <a:custGeom>
            <a:avLst/>
            <a:gdLst/>
            <a:ahLst/>
            <a:cxnLst/>
            <a:rect r="r" b="b" t="t" l="l"/>
            <a:pathLst>
              <a:path h="9458908" w="6305939">
                <a:moveTo>
                  <a:pt x="0" y="0"/>
                </a:moveTo>
                <a:lnTo>
                  <a:pt x="6305939" y="0"/>
                </a:lnTo>
                <a:lnTo>
                  <a:pt x="6305939" y="9458908"/>
                </a:lnTo>
                <a:lnTo>
                  <a:pt x="0" y="94589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262952" y="8569704"/>
            <a:ext cx="591487" cy="688596"/>
          </a:xfrm>
          <a:custGeom>
            <a:avLst/>
            <a:gdLst/>
            <a:ahLst/>
            <a:cxnLst/>
            <a:rect r="r" b="b" t="t" l="l"/>
            <a:pathLst>
              <a:path h="688596" w="591487">
                <a:moveTo>
                  <a:pt x="0" y="0"/>
                </a:moveTo>
                <a:lnTo>
                  <a:pt x="591486" y="0"/>
                </a:lnTo>
                <a:lnTo>
                  <a:pt x="591486" y="688596"/>
                </a:lnTo>
                <a:lnTo>
                  <a:pt x="0" y="6885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5000"/>
            </a:blip>
            <a:stretch>
              <a:fillRect l="-71981" t="-28657" r="-68446" b="-77864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10557"/>
            <a:ext cx="18620738" cy="1629451"/>
            <a:chOff x="0" y="0"/>
            <a:chExt cx="24827651" cy="2172602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24827651" cy="2172602"/>
              <a:chOff x="0" y="0"/>
              <a:chExt cx="2884840" cy="252445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2884840" cy="252445"/>
              </a:xfrm>
              <a:custGeom>
                <a:avLst/>
                <a:gdLst/>
                <a:ahLst/>
                <a:cxnLst/>
                <a:rect r="r" b="b" t="t" l="l"/>
                <a:pathLst>
                  <a:path h="252445" w="2884840">
                    <a:moveTo>
                      <a:pt x="0" y="0"/>
                    </a:moveTo>
                    <a:lnTo>
                      <a:pt x="2884840" y="0"/>
                    </a:lnTo>
                    <a:lnTo>
                      <a:pt x="2884840" y="252445"/>
                    </a:lnTo>
                    <a:lnTo>
                      <a:pt x="0" y="252445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F3131">
                      <a:alpha val="100000"/>
                    </a:srgbClr>
                  </a:gs>
                  <a:gs pos="100000">
                    <a:srgbClr val="FF914D">
                      <a:alpha val="100000"/>
                    </a:srgbClr>
                  </a:gs>
                </a:gsLst>
                <a:lin ang="2700000"/>
              </a:gradFill>
            </p:spPr>
          </p:sp>
        </p:grp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84084" cy="2172602"/>
            </a:xfrm>
            <a:custGeom>
              <a:avLst/>
              <a:gdLst/>
              <a:ahLst/>
              <a:cxnLst/>
              <a:rect r="r" b="b" t="t" l="l"/>
              <a:pathLst>
                <a:path h="2172602" w="2584084">
                  <a:moveTo>
                    <a:pt x="0" y="0"/>
                  </a:moveTo>
                  <a:lnTo>
                    <a:pt x="2584084" y="0"/>
                  </a:lnTo>
                  <a:lnTo>
                    <a:pt x="2584084" y="2172602"/>
                  </a:lnTo>
                  <a:lnTo>
                    <a:pt x="0" y="21726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9469" r="0" b="-946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2766562" y="-176080"/>
              <a:ext cx="20823199" cy="21247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2239"/>
                </a:lnSpc>
              </a:pPr>
              <a:r>
                <a:rPr lang="en-US" sz="8499" b="true">
                  <a:solidFill>
                    <a:srgbClr val="FFFFFF"/>
                  </a:solidFill>
                  <a:latin typeface="Heading Now 31-38 Bold"/>
                  <a:ea typeface="Heading Now 31-38 Bold"/>
                  <a:cs typeface="Heading Now 31-38 Bold"/>
                  <a:sym typeface="Heading Now 31-38 Bold"/>
                </a:rPr>
                <a:t>EXECUTIVE SUMMARY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95680" y="1888414"/>
            <a:ext cx="17096641" cy="7996626"/>
            <a:chOff x="0" y="0"/>
            <a:chExt cx="4482881" cy="209678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82881" cy="2096782"/>
            </a:xfrm>
            <a:custGeom>
              <a:avLst/>
              <a:gdLst/>
              <a:ahLst/>
              <a:cxnLst/>
              <a:rect r="r" b="b" t="t" l="l"/>
              <a:pathLst>
                <a:path h="2096782" w="4482881">
                  <a:moveTo>
                    <a:pt x="0" y="0"/>
                  </a:moveTo>
                  <a:lnTo>
                    <a:pt x="4482881" y="0"/>
                  </a:lnTo>
                  <a:lnTo>
                    <a:pt x="4482881" y="2096782"/>
                  </a:lnTo>
                  <a:lnTo>
                    <a:pt x="0" y="2096782"/>
                  </a:lnTo>
                  <a:close/>
                </a:path>
              </a:pathLst>
            </a:custGeom>
            <a:solidFill>
              <a:srgbClr val="363636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31236" y="1979572"/>
            <a:ext cx="16625528" cy="7472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11" indent="-313055" lvl="1">
              <a:lnSpc>
                <a:spcPts val="3741"/>
              </a:lnSpc>
              <a:buFont typeface="Arial"/>
              <a:buChar char="•"/>
            </a:pPr>
            <a:r>
              <a:rPr lang="en-US" b="true" sz="2900" i="true" spc="-159">
                <a:solidFill>
                  <a:srgbClr val="FFFFFF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Live-Lot is preparing to launch an app that helps people in metropolitan and densely populated areas save time by partnering with local parking decks to track capacity and monitor pricing.  </a:t>
            </a:r>
          </a:p>
          <a:p>
            <a:pPr algn="l">
              <a:lnSpc>
                <a:spcPts val="3741"/>
              </a:lnSpc>
            </a:pPr>
          </a:p>
          <a:p>
            <a:pPr algn="l" marL="626111" indent="-313055" lvl="1">
              <a:lnSpc>
                <a:spcPts val="3741"/>
              </a:lnSpc>
              <a:buFont typeface="Arial"/>
              <a:buChar char="•"/>
            </a:pPr>
            <a:r>
              <a:rPr lang="en-US" sz="2900" spc="-15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Although this is a </a:t>
            </a:r>
            <a:r>
              <a:rPr lang="en-US" b="true" sz="2900" spc="-159" u="sng">
                <a:solidFill>
                  <a:srgbClr val="FDB256"/>
                </a:solidFill>
                <a:latin typeface="Arial Bold"/>
                <a:ea typeface="Arial Bold"/>
                <a:cs typeface="Arial Bold"/>
                <a:sym typeface="Arial Bold"/>
              </a:rPr>
              <a:t>moderately challenging </a:t>
            </a:r>
            <a:r>
              <a:rPr lang="en-US" sz="2900" spc="-15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industry to enter, the smart parking industry is experiencing rapid growth, with an </a:t>
            </a:r>
            <a:r>
              <a:rPr lang="en-US" b="true" sz="2900" spc="-159" u="sng">
                <a:solidFill>
                  <a:srgbClr val="FDB256"/>
                </a:solidFill>
                <a:latin typeface="Arial Bold"/>
                <a:ea typeface="Arial Bold"/>
                <a:cs typeface="Arial Bold"/>
                <a:sym typeface="Arial Bold"/>
              </a:rPr>
              <a:t>annual growth rate of 18.4%</a:t>
            </a:r>
            <a:r>
              <a:rPr lang="en-US" sz="2900" spc="-15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and a market size of </a:t>
            </a:r>
            <a:r>
              <a:rPr lang="en-US" b="true" sz="2900" spc="-159" u="sng">
                <a:solidFill>
                  <a:srgbClr val="FDB256"/>
                </a:solidFill>
                <a:latin typeface="Arial Bold"/>
                <a:ea typeface="Arial Bold"/>
                <a:cs typeface="Arial Bold"/>
                <a:sym typeface="Arial Bold"/>
              </a:rPr>
              <a:t>$6.1 billion. </a:t>
            </a:r>
          </a:p>
          <a:p>
            <a:pPr algn="l">
              <a:lnSpc>
                <a:spcPts val="3741"/>
              </a:lnSpc>
            </a:pPr>
          </a:p>
          <a:p>
            <a:pPr algn="l" marL="626111" indent="-313055" lvl="1">
              <a:lnSpc>
                <a:spcPts val="3741"/>
              </a:lnSpc>
              <a:buFont typeface="Arial"/>
              <a:buChar char="•"/>
            </a:pPr>
            <a:r>
              <a:rPr lang="en-US" sz="2900" spc="-15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Our company will be positioned using the slogan</a:t>
            </a:r>
            <a:r>
              <a:rPr lang="en-US" sz="2900" i="true" spc="-159">
                <a:solidFill>
                  <a:srgbClr val="FFFFFF"/>
                </a:solidFill>
                <a:latin typeface="Arial Italics"/>
                <a:ea typeface="Arial Italics"/>
                <a:cs typeface="Arial Italics"/>
                <a:sym typeface="Arial Italics"/>
              </a:rPr>
              <a:t> </a:t>
            </a:r>
            <a:r>
              <a:rPr lang="en-US" b="true" sz="2900" i="true" spc="-159" u="sng">
                <a:solidFill>
                  <a:srgbClr val="FDB256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“Park Smarter, Move Faster”</a:t>
            </a:r>
            <a:r>
              <a:rPr lang="en-US" sz="2900" spc="-159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900" spc="-15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offering a fast and convenient way to find available parking and view parking prices. This saves drivers time and helps parking garages and lots increase occupancy, bringing convenience to users' daily lives.</a:t>
            </a:r>
          </a:p>
          <a:p>
            <a:pPr algn="l">
              <a:lnSpc>
                <a:spcPts val="3741"/>
              </a:lnSpc>
            </a:pPr>
          </a:p>
          <a:p>
            <a:pPr algn="l" marL="626111" indent="-313055" lvl="1">
              <a:lnSpc>
                <a:spcPts val="3741"/>
              </a:lnSpc>
              <a:buFont typeface="Arial"/>
              <a:buChar char="•"/>
            </a:pPr>
            <a:r>
              <a:rPr lang="en-US" sz="2900" spc="-15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Live-Lot targets</a:t>
            </a:r>
            <a:r>
              <a:rPr lang="en-US" b="true" sz="2900" spc="-159" u="sng">
                <a:solidFill>
                  <a:srgbClr val="FDB256"/>
                </a:solidFill>
                <a:latin typeface="Arial Bold"/>
                <a:ea typeface="Arial Bold"/>
                <a:cs typeface="Arial Bold"/>
                <a:sym typeface="Arial Bold"/>
              </a:rPr>
              <a:t> interns, young professionals, full-time professionals</a:t>
            </a:r>
            <a:r>
              <a:rPr lang="en-US" sz="2900" spc="-159">
                <a:solidFill>
                  <a:srgbClr val="FDB256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en-US" sz="2900" spc="-15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and</a:t>
            </a:r>
            <a:r>
              <a:rPr lang="en-US" b="true" sz="2900" spc="-159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b="true" sz="2900" spc="-159" u="sng">
                <a:solidFill>
                  <a:srgbClr val="FDB256"/>
                </a:solidFill>
                <a:latin typeface="Arial Bold"/>
                <a:ea typeface="Arial Bold"/>
                <a:cs typeface="Arial Bold"/>
                <a:sym typeface="Arial Bold"/>
              </a:rPr>
              <a:t>event-goers</a:t>
            </a:r>
            <a:r>
              <a:rPr lang="en-US" b="true" sz="2900" spc="-159">
                <a:solidFill>
                  <a:srgbClr val="FDB256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900" spc="-15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as its target audience. </a:t>
            </a:r>
          </a:p>
          <a:p>
            <a:pPr algn="l">
              <a:lnSpc>
                <a:spcPts val="3741"/>
              </a:lnSpc>
            </a:pPr>
          </a:p>
          <a:p>
            <a:pPr algn="l" marL="626111" indent="-313055" lvl="1">
              <a:lnSpc>
                <a:spcPts val="3741"/>
              </a:lnSpc>
              <a:buFont typeface="Arial"/>
              <a:buChar char="•"/>
            </a:pPr>
            <a:r>
              <a:rPr lang="en-US" sz="2900" spc="-15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Live-Lot believes that our </a:t>
            </a:r>
            <a:r>
              <a:rPr lang="en-US" b="true" sz="2900" spc="-159" u="sng">
                <a:solidFill>
                  <a:srgbClr val="FDB256"/>
                </a:solidFill>
                <a:latin typeface="Arial Bold"/>
                <a:ea typeface="Arial Bold"/>
                <a:cs typeface="Arial Bold"/>
                <a:sym typeface="Arial Bold"/>
              </a:rPr>
              <a:t>real-time capacity tracking</a:t>
            </a:r>
            <a:r>
              <a:rPr lang="en-US" sz="2900" spc="-15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US" b="true" sz="2900" spc="-159" u="sng">
                <a:solidFill>
                  <a:srgbClr val="FDB256"/>
                </a:solidFill>
                <a:latin typeface="Arial Bold"/>
                <a:ea typeface="Arial Bold"/>
                <a:cs typeface="Arial Bold"/>
                <a:sym typeface="Arial Bold"/>
              </a:rPr>
              <a:t>user-friendly interface</a:t>
            </a:r>
            <a:r>
              <a:rPr lang="en-US" sz="2900" spc="-159" u="sng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900" spc="-15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will give us a competitive edge in an industry that is </a:t>
            </a:r>
            <a:r>
              <a:rPr lang="en-US" b="true" sz="2900" spc="-159" u="sng">
                <a:solidFill>
                  <a:srgbClr val="FDB256"/>
                </a:solidFill>
                <a:latin typeface="Arial Bold"/>
                <a:ea typeface="Arial Bold"/>
                <a:cs typeface="Arial Bold"/>
                <a:sym typeface="Arial Bold"/>
              </a:rPr>
              <a:t>rapidly growing</a:t>
            </a:r>
            <a:r>
              <a:rPr lang="en-US" sz="2900" spc="-159">
                <a:solidFill>
                  <a:srgbClr val="FDB256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US" sz="2900" spc="-15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Enhancing our monetization through</a:t>
            </a:r>
            <a:r>
              <a:rPr lang="en-US" sz="2900" spc="-159">
                <a:solidFill>
                  <a:srgbClr val="FDB25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sz="2900" spc="-159" u="sng">
                <a:solidFill>
                  <a:srgbClr val="FDB256"/>
                </a:solidFill>
                <a:latin typeface="Arial Bold"/>
                <a:ea typeface="Arial Bold"/>
                <a:cs typeface="Arial Bold"/>
                <a:sym typeface="Arial Bold"/>
              </a:rPr>
              <a:t>partnerships</a:t>
            </a:r>
            <a:r>
              <a:rPr lang="en-US" sz="2900" spc="-15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with cities, universities, stadiums, and large parking chains will enable us to grow successfully in the long term.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-476250"/>
            <a:ext cx="18288000" cy="2105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31"/>
              </a:lnSpc>
            </a:pPr>
            <a:r>
              <a:rPr lang="en-US" b="true" sz="10736">
                <a:solidFill>
                  <a:srgbClr val="FFFFFF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MEET OUR TEAM - GROUP 17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0" y="10557"/>
            <a:ext cx="18620738" cy="1629451"/>
            <a:chOff x="0" y="0"/>
            <a:chExt cx="24827651" cy="2172602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24827651" cy="2172602"/>
              <a:chOff x="0" y="0"/>
              <a:chExt cx="2884840" cy="252445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2884840" cy="252445"/>
              </a:xfrm>
              <a:custGeom>
                <a:avLst/>
                <a:gdLst/>
                <a:ahLst/>
                <a:cxnLst/>
                <a:rect r="r" b="b" t="t" l="l"/>
                <a:pathLst>
                  <a:path h="252445" w="2884840">
                    <a:moveTo>
                      <a:pt x="0" y="0"/>
                    </a:moveTo>
                    <a:lnTo>
                      <a:pt x="2884840" y="0"/>
                    </a:lnTo>
                    <a:lnTo>
                      <a:pt x="2884840" y="252445"/>
                    </a:lnTo>
                    <a:lnTo>
                      <a:pt x="0" y="252445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F3131">
                      <a:alpha val="100000"/>
                    </a:srgbClr>
                  </a:gs>
                  <a:gs pos="100000">
                    <a:srgbClr val="FF914D">
                      <a:alpha val="100000"/>
                    </a:srgbClr>
                  </a:gs>
                </a:gsLst>
                <a:lin ang="2700000"/>
              </a:gradFill>
            </p:spPr>
          </p:sp>
        </p:grp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84084" cy="2172602"/>
            </a:xfrm>
            <a:custGeom>
              <a:avLst/>
              <a:gdLst/>
              <a:ahLst/>
              <a:cxnLst/>
              <a:rect r="r" b="b" t="t" l="l"/>
              <a:pathLst>
                <a:path h="2172602" w="2584084">
                  <a:moveTo>
                    <a:pt x="0" y="0"/>
                  </a:moveTo>
                  <a:lnTo>
                    <a:pt x="2584084" y="0"/>
                  </a:lnTo>
                  <a:lnTo>
                    <a:pt x="2584084" y="2172602"/>
                  </a:lnTo>
                  <a:lnTo>
                    <a:pt x="0" y="21726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9469" r="0" b="-9469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2766562" y="-176080"/>
              <a:ext cx="20823199" cy="21247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2239"/>
                </a:lnSpc>
              </a:pPr>
              <a:r>
                <a:rPr lang="en-US" b="true" sz="8499">
                  <a:solidFill>
                    <a:srgbClr val="FFFFFF"/>
                  </a:solidFill>
                  <a:latin typeface="Heading Now 31-38 Bold"/>
                  <a:ea typeface="Heading Now 31-38 Bold"/>
                  <a:cs typeface="Heading Now 31-38 Bold"/>
                  <a:sym typeface="Heading Now 31-38 Bold"/>
                </a:rPr>
                <a:t>SITUATIONAL ANALYSIS 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95680" y="1888414"/>
            <a:ext cx="17096641" cy="7996626"/>
            <a:chOff x="0" y="0"/>
            <a:chExt cx="4482881" cy="209678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482881" cy="2096782"/>
            </a:xfrm>
            <a:custGeom>
              <a:avLst/>
              <a:gdLst/>
              <a:ahLst/>
              <a:cxnLst/>
              <a:rect r="r" b="b" t="t" l="l"/>
              <a:pathLst>
                <a:path h="2096782" w="4482881">
                  <a:moveTo>
                    <a:pt x="0" y="0"/>
                  </a:moveTo>
                  <a:lnTo>
                    <a:pt x="4482881" y="0"/>
                  </a:lnTo>
                  <a:lnTo>
                    <a:pt x="4482881" y="2096782"/>
                  </a:lnTo>
                  <a:lnTo>
                    <a:pt x="0" y="2096782"/>
                  </a:lnTo>
                  <a:close/>
                </a:path>
              </a:pathLst>
            </a:custGeom>
            <a:solidFill>
              <a:srgbClr val="363636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95680" y="1888414"/>
            <a:ext cx="7183087" cy="7996626"/>
            <a:chOff x="0" y="0"/>
            <a:chExt cx="1112848" cy="123888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12848" cy="1238887"/>
            </a:xfrm>
            <a:custGeom>
              <a:avLst/>
              <a:gdLst/>
              <a:ahLst/>
              <a:cxnLst/>
              <a:rect r="r" b="b" t="t" l="l"/>
              <a:pathLst>
                <a:path h="1238887" w="1112848">
                  <a:moveTo>
                    <a:pt x="0" y="0"/>
                  </a:moveTo>
                  <a:lnTo>
                    <a:pt x="1112848" y="0"/>
                  </a:lnTo>
                  <a:lnTo>
                    <a:pt x="1112848" y="1238887"/>
                  </a:lnTo>
                  <a:lnTo>
                    <a:pt x="0" y="1238887"/>
                  </a:lnTo>
                  <a:close/>
                </a:path>
              </a:pathLst>
            </a:custGeom>
            <a:gradFill rotWithShape="true">
              <a:gsLst>
                <a:gs pos="0">
                  <a:srgbClr val="FF3131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028700" y="2193274"/>
            <a:ext cx="6378439" cy="2950226"/>
          </a:xfrm>
          <a:custGeom>
            <a:avLst/>
            <a:gdLst/>
            <a:ahLst/>
            <a:cxnLst/>
            <a:rect r="r" b="b" t="t" l="l"/>
            <a:pathLst>
              <a:path h="2950226" w="6378439">
                <a:moveTo>
                  <a:pt x="0" y="0"/>
                </a:moveTo>
                <a:lnTo>
                  <a:pt x="6378439" y="0"/>
                </a:lnTo>
                <a:lnTo>
                  <a:pt x="6378439" y="2950226"/>
                </a:lnTo>
                <a:lnTo>
                  <a:pt x="0" y="29502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1438" r="0" b="-214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28700" y="5454946"/>
            <a:ext cx="6378439" cy="3255683"/>
          </a:xfrm>
          <a:custGeom>
            <a:avLst/>
            <a:gdLst/>
            <a:ahLst/>
            <a:cxnLst/>
            <a:rect r="r" b="b" t="t" l="l"/>
            <a:pathLst>
              <a:path h="3255683" w="6378439">
                <a:moveTo>
                  <a:pt x="0" y="0"/>
                </a:moveTo>
                <a:lnTo>
                  <a:pt x="6378439" y="0"/>
                </a:lnTo>
                <a:lnTo>
                  <a:pt x="6378439" y="3255683"/>
                </a:lnTo>
                <a:lnTo>
                  <a:pt x="0" y="32556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5176" r="-12751" b="-31998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069391" y="1962399"/>
            <a:ext cx="9189909" cy="8330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Drivers spend an </a:t>
            </a:r>
            <a:r>
              <a:rPr lang="en-US" sz="3500" u="sng" b="true">
                <a:solidFill>
                  <a:srgbClr val="FDB256"/>
                </a:solidFill>
                <a:latin typeface="Arial Bold"/>
                <a:ea typeface="Arial Bold"/>
                <a:cs typeface="Arial Bold"/>
                <a:sym typeface="Arial Bold"/>
              </a:rPr>
              <a:t>average</a:t>
            </a:r>
            <a:r>
              <a:rPr lang="en-US" sz="35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3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of </a:t>
            </a:r>
            <a:r>
              <a:rPr lang="en-US" sz="3500" u="sng" b="true">
                <a:solidFill>
                  <a:srgbClr val="FDB256"/>
                </a:solidFill>
                <a:latin typeface="Arial Bold"/>
                <a:ea typeface="Arial Bold"/>
                <a:cs typeface="Arial Bold"/>
                <a:sym typeface="Arial Bold"/>
              </a:rPr>
              <a:t>17 hours per year</a:t>
            </a:r>
            <a:r>
              <a:rPr lang="en-US" sz="3500">
                <a:solidFill>
                  <a:srgbClr val="FF854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searching for parking. (Park NYC, 2025)</a:t>
            </a:r>
          </a:p>
          <a:p>
            <a:pPr algn="l">
              <a:lnSpc>
                <a:spcPts val="4093"/>
              </a:lnSpc>
            </a:pPr>
          </a:p>
          <a:p>
            <a:pPr algn="l" marL="631320" indent="-315660" lvl="1">
              <a:lnSpc>
                <a:spcPts val="4093"/>
              </a:lnSpc>
              <a:buFont typeface="Arial"/>
              <a:buChar char="•"/>
            </a:pPr>
            <a:r>
              <a:rPr lang="en-US" sz="2924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App designed to help people find </a:t>
            </a:r>
            <a:r>
              <a:rPr lang="en-US" b="true" sz="2924" u="sng">
                <a:solidFill>
                  <a:srgbClr val="FDB256"/>
                </a:solidFill>
                <a:latin typeface="Arial Bold"/>
                <a:ea typeface="Arial Bold"/>
                <a:cs typeface="Arial Bold"/>
                <a:sym typeface="Arial Bold"/>
              </a:rPr>
              <a:t>real-time</a:t>
            </a:r>
            <a:r>
              <a:rPr lang="en-US" sz="2924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information on </a:t>
            </a:r>
            <a:r>
              <a:rPr lang="en-US" b="true" sz="2924" u="sng">
                <a:solidFill>
                  <a:srgbClr val="FDB256"/>
                </a:solidFill>
                <a:latin typeface="Arial Bold"/>
                <a:ea typeface="Arial Bold"/>
                <a:cs typeface="Arial Bold"/>
                <a:sym typeface="Arial Bold"/>
              </a:rPr>
              <a:t>parking capacity</a:t>
            </a:r>
            <a:r>
              <a:rPr lang="en-US" sz="2924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US" b="true" sz="2924" u="sng">
                <a:solidFill>
                  <a:srgbClr val="FDB256"/>
                </a:solidFill>
                <a:latin typeface="Arial Bold"/>
                <a:ea typeface="Arial Bold"/>
                <a:cs typeface="Arial Bold"/>
                <a:sym typeface="Arial Bold"/>
              </a:rPr>
              <a:t>pricing</a:t>
            </a:r>
            <a:r>
              <a:rPr lang="en-US" sz="2924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in metropolitan areas.​</a:t>
            </a:r>
          </a:p>
          <a:p>
            <a:pPr algn="l" marL="1262639" indent="-420880" lvl="2">
              <a:lnSpc>
                <a:spcPts val="4093"/>
              </a:lnSpc>
              <a:buFont typeface="Arial"/>
              <a:buChar char="⚬"/>
            </a:pPr>
            <a:r>
              <a:rPr lang="en-US" sz="2924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Urban areas experience regular congestion caused by drivers circling for available spaces.</a:t>
            </a:r>
          </a:p>
          <a:p>
            <a:pPr algn="l">
              <a:lnSpc>
                <a:spcPts val="4093"/>
              </a:lnSpc>
            </a:pPr>
          </a:p>
          <a:p>
            <a:pPr algn="l">
              <a:lnSpc>
                <a:spcPts val="4513"/>
              </a:lnSpc>
            </a:pPr>
            <a:r>
              <a:rPr lang="en-US" sz="3224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Our app will solve this problem by offering customers </a:t>
            </a:r>
            <a:r>
              <a:rPr lang="en-US" sz="3224" u="sng" b="true">
                <a:solidFill>
                  <a:srgbClr val="FDB256"/>
                </a:solidFill>
                <a:latin typeface="Arial Bold"/>
                <a:ea typeface="Arial Bold"/>
                <a:cs typeface="Arial Bold"/>
                <a:sym typeface="Arial Bold"/>
              </a:rPr>
              <a:t>reliable real-time updates</a:t>
            </a:r>
            <a:r>
              <a:rPr lang="en-US" sz="3224">
                <a:solidFill>
                  <a:srgbClr val="FDB256"/>
                </a:solidFill>
                <a:latin typeface="Arial"/>
                <a:ea typeface="Arial"/>
                <a:cs typeface="Arial"/>
                <a:sym typeface="Arial"/>
              </a:rPr>
              <a:t> on </a:t>
            </a:r>
            <a:r>
              <a:rPr lang="en-US" sz="3224" u="sng" b="true">
                <a:solidFill>
                  <a:srgbClr val="FDB256"/>
                </a:solidFill>
                <a:latin typeface="Arial Bold"/>
                <a:ea typeface="Arial Bold"/>
                <a:cs typeface="Arial Bold"/>
                <a:sym typeface="Arial Bold"/>
              </a:rPr>
              <a:t>parking capacities</a:t>
            </a:r>
            <a:r>
              <a:rPr lang="en-US" sz="3224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24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their local parking decks in cities and metropolitan areas,</a:t>
            </a:r>
            <a:r>
              <a:rPr lang="en-US" sz="3224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3224" b="true">
                <a:solidFill>
                  <a:srgbClr val="FDB256"/>
                </a:solidFill>
                <a:latin typeface="Arial Bold"/>
                <a:ea typeface="Arial Bold"/>
                <a:cs typeface="Arial Bold"/>
                <a:sym typeface="Arial Bold"/>
              </a:rPr>
              <a:t>helping drivers “</a:t>
            </a:r>
            <a:r>
              <a:rPr lang="en-US" sz="3224" i="true" b="true">
                <a:solidFill>
                  <a:srgbClr val="FDB256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park </a:t>
            </a:r>
            <a:r>
              <a:rPr lang="en-US" b="true" sz="3224" i="true" u="sng">
                <a:solidFill>
                  <a:srgbClr val="FDB256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smarter</a:t>
            </a:r>
            <a:r>
              <a:rPr lang="en-US" sz="3224" i="true" b="true">
                <a:solidFill>
                  <a:srgbClr val="FDB256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 and move </a:t>
            </a:r>
            <a:r>
              <a:rPr lang="en-US" b="true" sz="3224" i="true" u="sng">
                <a:solidFill>
                  <a:srgbClr val="FDB256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faster.”</a:t>
            </a:r>
          </a:p>
          <a:p>
            <a:pPr algn="ctr">
              <a:lnSpc>
                <a:spcPts val="5020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537785" y="8548144"/>
            <a:ext cx="5360268" cy="1146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2"/>
              </a:lnSpc>
              <a:spcBef>
                <a:spcPct val="0"/>
              </a:spcBef>
            </a:pPr>
            <a:r>
              <a:rPr lang="en-US" b="true" sz="5827">
                <a:solidFill>
                  <a:srgbClr val="FEFEFE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PARK </a:t>
            </a:r>
            <a:r>
              <a:rPr lang="en-US" b="true" sz="5827" i="true" u="sng">
                <a:solidFill>
                  <a:srgbClr val="FEFEFE"/>
                </a:solidFill>
                <a:latin typeface="Heading Now 31-38 Bold Italics"/>
                <a:ea typeface="Heading Now 31-38 Bold Italics"/>
                <a:cs typeface="Heading Now 31-38 Bold Italics"/>
                <a:sym typeface="Heading Now 31-38 Bold Italics"/>
              </a:rPr>
              <a:t>SMARTER </a:t>
            </a:r>
            <a:r>
              <a:rPr lang="en-US" b="true" sz="5827">
                <a:solidFill>
                  <a:srgbClr val="FEFEFE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MOVE </a:t>
            </a:r>
            <a:r>
              <a:rPr lang="en-US" b="true" sz="5827" i="true" u="sng">
                <a:solidFill>
                  <a:srgbClr val="FEFEFE"/>
                </a:solidFill>
                <a:latin typeface="Heading Now 31-38 Bold Italics"/>
                <a:ea typeface="Heading Now 31-38 Bold Italics"/>
                <a:cs typeface="Heading Now 31-38 Bold Italics"/>
                <a:sym typeface="Heading Now 31-38 Bold Italics"/>
              </a:rPr>
              <a:t>FASTER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-476250"/>
            <a:ext cx="18288000" cy="2105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31"/>
              </a:lnSpc>
            </a:pPr>
            <a:r>
              <a:rPr lang="en-US" b="true" sz="10736">
                <a:solidFill>
                  <a:srgbClr val="FFFFFF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MEET OUR TEAM - GROUP 17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595680" y="1888414"/>
            <a:ext cx="17096641" cy="7996626"/>
            <a:chOff x="0" y="0"/>
            <a:chExt cx="4482881" cy="209678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82881" cy="2096782"/>
            </a:xfrm>
            <a:custGeom>
              <a:avLst/>
              <a:gdLst/>
              <a:ahLst/>
              <a:cxnLst/>
              <a:rect r="r" b="b" t="t" l="l"/>
              <a:pathLst>
                <a:path h="2096782" w="4482881">
                  <a:moveTo>
                    <a:pt x="0" y="0"/>
                  </a:moveTo>
                  <a:lnTo>
                    <a:pt x="4482881" y="0"/>
                  </a:lnTo>
                  <a:lnTo>
                    <a:pt x="4482881" y="2096782"/>
                  </a:lnTo>
                  <a:lnTo>
                    <a:pt x="0" y="2096782"/>
                  </a:lnTo>
                  <a:close/>
                </a:path>
              </a:pathLst>
            </a:custGeom>
            <a:solidFill>
              <a:srgbClr val="363636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10557"/>
            <a:ext cx="18620738" cy="1629451"/>
            <a:chOff x="0" y="0"/>
            <a:chExt cx="24827651" cy="2172602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24827651" cy="2172602"/>
              <a:chOff x="0" y="0"/>
              <a:chExt cx="2884840" cy="252445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884840" cy="252445"/>
              </a:xfrm>
              <a:custGeom>
                <a:avLst/>
                <a:gdLst/>
                <a:ahLst/>
                <a:cxnLst/>
                <a:rect r="r" b="b" t="t" l="l"/>
                <a:pathLst>
                  <a:path h="252445" w="2884840">
                    <a:moveTo>
                      <a:pt x="0" y="0"/>
                    </a:moveTo>
                    <a:lnTo>
                      <a:pt x="2884840" y="0"/>
                    </a:lnTo>
                    <a:lnTo>
                      <a:pt x="2884840" y="252445"/>
                    </a:lnTo>
                    <a:lnTo>
                      <a:pt x="0" y="252445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F3131">
                      <a:alpha val="100000"/>
                    </a:srgbClr>
                  </a:gs>
                  <a:gs pos="100000">
                    <a:srgbClr val="FF914D">
                      <a:alpha val="100000"/>
                    </a:srgbClr>
                  </a:gs>
                </a:gsLst>
                <a:lin ang="2700000"/>
              </a:gradFill>
            </p:spPr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84084" cy="2172602"/>
            </a:xfrm>
            <a:custGeom>
              <a:avLst/>
              <a:gdLst/>
              <a:ahLst/>
              <a:cxnLst/>
              <a:rect r="r" b="b" t="t" l="l"/>
              <a:pathLst>
                <a:path h="2172602" w="2584084">
                  <a:moveTo>
                    <a:pt x="0" y="0"/>
                  </a:moveTo>
                  <a:lnTo>
                    <a:pt x="2584084" y="0"/>
                  </a:lnTo>
                  <a:lnTo>
                    <a:pt x="2584084" y="2172602"/>
                  </a:lnTo>
                  <a:lnTo>
                    <a:pt x="0" y="21726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9469" r="0" b="-946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2766562" y="-176080"/>
              <a:ext cx="20823199" cy="21247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2239"/>
                </a:lnSpc>
              </a:pPr>
              <a:r>
                <a:rPr lang="en-US" sz="8499" b="true">
                  <a:solidFill>
                    <a:srgbClr val="FFFFFF"/>
                  </a:solidFill>
                  <a:latin typeface="Heading Now 31-38 Bold"/>
                  <a:ea typeface="Heading Now 31-38 Bold"/>
                  <a:cs typeface="Heading Now 31-38 Bold"/>
                  <a:sym typeface="Heading Now 31-38 Bold"/>
                </a:rPr>
                <a:t>INDUSTRY ANALYSIS 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8547657" y="2110445"/>
            <a:ext cx="8538436" cy="4781524"/>
          </a:xfrm>
          <a:custGeom>
            <a:avLst/>
            <a:gdLst/>
            <a:ahLst/>
            <a:cxnLst/>
            <a:rect r="r" b="b" t="t" l="l"/>
            <a:pathLst>
              <a:path h="4781524" w="8538436">
                <a:moveTo>
                  <a:pt x="0" y="0"/>
                </a:moveTo>
                <a:lnTo>
                  <a:pt x="8538436" y="0"/>
                </a:lnTo>
                <a:lnTo>
                  <a:pt x="8538436" y="4781525"/>
                </a:lnTo>
                <a:lnTo>
                  <a:pt x="0" y="47815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2" id="12"/>
          <p:cNvGrpSpPr/>
          <p:nvPr/>
        </p:nvGrpSpPr>
        <p:grpSpPr>
          <a:xfrm rot="0">
            <a:off x="8547657" y="7533548"/>
            <a:ext cx="8770913" cy="1879958"/>
            <a:chOff x="0" y="0"/>
            <a:chExt cx="1358844" cy="29125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58844" cy="291255"/>
            </a:xfrm>
            <a:custGeom>
              <a:avLst/>
              <a:gdLst/>
              <a:ahLst/>
              <a:cxnLst/>
              <a:rect r="r" b="b" t="t" l="l"/>
              <a:pathLst>
                <a:path h="291255" w="1358844">
                  <a:moveTo>
                    <a:pt x="0" y="0"/>
                  </a:moveTo>
                  <a:lnTo>
                    <a:pt x="1358844" y="0"/>
                  </a:lnTo>
                  <a:lnTo>
                    <a:pt x="1358844" y="291255"/>
                  </a:lnTo>
                  <a:lnTo>
                    <a:pt x="0" y="291255"/>
                  </a:lnTo>
                  <a:close/>
                </a:path>
              </a:pathLst>
            </a:custGeom>
            <a:gradFill rotWithShape="true">
              <a:gsLst>
                <a:gs pos="0">
                  <a:srgbClr val="FF3131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3322551" y="2365278"/>
            <a:ext cx="9525" cy="632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2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858218" y="2132595"/>
            <a:ext cx="7473627" cy="7290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869"/>
              </a:lnSpc>
              <a:buFont typeface="Arial"/>
              <a:buChar char="•"/>
            </a:pPr>
            <a:r>
              <a:rPr lang="en-US" b="true" sz="2999" spc="-164" u="sng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Industry</a:t>
            </a:r>
            <a:r>
              <a:rPr lang="en-US" b="true" sz="2999" spc="-164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 - </a:t>
            </a:r>
            <a:r>
              <a:rPr lang="en-US" sz="2999" spc="-164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Parking Finder Apps Market</a:t>
            </a:r>
          </a:p>
          <a:p>
            <a:pPr algn="l">
              <a:lnSpc>
                <a:spcPts val="3869"/>
              </a:lnSpc>
            </a:pPr>
          </a:p>
          <a:p>
            <a:pPr algn="l" marL="647700" indent="-323850" lvl="1">
              <a:lnSpc>
                <a:spcPts val="3869"/>
              </a:lnSpc>
              <a:buFont typeface="Arial"/>
              <a:buChar char="•"/>
            </a:pPr>
            <a:r>
              <a:rPr lang="en-US" b="true" sz="2999" spc="-164" u="sng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Market Size (2023)</a:t>
            </a:r>
            <a:r>
              <a:rPr lang="en-US" b="true" sz="2999" spc="-164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 -</a:t>
            </a:r>
            <a:r>
              <a:rPr lang="en-US" sz="2999" spc="-164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$6.1 billion</a:t>
            </a:r>
          </a:p>
          <a:p>
            <a:pPr algn="l">
              <a:lnSpc>
                <a:spcPts val="3869"/>
              </a:lnSpc>
            </a:pPr>
          </a:p>
          <a:p>
            <a:pPr algn="l" marL="647700" indent="-323850" lvl="1">
              <a:lnSpc>
                <a:spcPts val="3869"/>
              </a:lnSpc>
              <a:buFont typeface="Arial"/>
              <a:buChar char="•"/>
            </a:pPr>
            <a:r>
              <a:rPr lang="en-US" b="true" sz="2999" spc="-164" u="sng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Projected Market Size (2033)</a:t>
            </a:r>
            <a:r>
              <a:rPr lang="en-US" b="true" sz="2999" spc="-164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999" spc="-164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- $33.2 billion</a:t>
            </a:r>
          </a:p>
          <a:p>
            <a:pPr algn="l">
              <a:lnSpc>
                <a:spcPts val="3869"/>
              </a:lnSpc>
            </a:pPr>
          </a:p>
          <a:p>
            <a:pPr algn="l" marL="647700" indent="-323850" lvl="1">
              <a:lnSpc>
                <a:spcPts val="3869"/>
              </a:lnSpc>
              <a:buFont typeface="Arial"/>
              <a:buChar char="•"/>
            </a:pPr>
            <a:r>
              <a:rPr lang="en-US" b="true" sz="2999" spc="-164" u="sng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Growth Rate (CAGR 2024–2033)</a:t>
            </a:r>
            <a:r>
              <a:rPr lang="en-US" b="true" sz="2999" spc="-164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 - </a:t>
            </a:r>
            <a:r>
              <a:rPr lang="en-US" sz="2999" spc="-164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18.4%</a:t>
            </a:r>
          </a:p>
          <a:p>
            <a:pPr algn="l">
              <a:lnSpc>
                <a:spcPts val="3869"/>
              </a:lnSpc>
            </a:pPr>
          </a:p>
          <a:p>
            <a:pPr algn="l" marL="647700" indent="-323850" lvl="1">
              <a:lnSpc>
                <a:spcPts val="3869"/>
              </a:lnSpc>
              <a:buFont typeface="Arial"/>
              <a:buChar char="•"/>
            </a:pPr>
            <a:r>
              <a:rPr lang="en-US" b="true" sz="2999" spc="-164" u="sng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Margin Trend:</a:t>
            </a:r>
            <a:r>
              <a:rPr lang="en-US" b="true" sz="2999" spc="-164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  </a:t>
            </a:r>
            <a:r>
              <a:rPr lang="en-US" sz="2999" spc="-164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High margins (60–80% depending on revenue model)</a:t>
            </a:r>
          </a:p>
          <a:p>
            <a:pPr algn="l">
              <a:lnSpc>
                <a:spcPts val="3869"/>
              </a:lnSpc>
            </a:pPr>
          </a:p>
          <a:p>
            <a:pPr algn="l" marL="647700" indent="-323850" lvl="1">
              <a:lnSpc>
                <a:spcPts val="3869"/>
              </a:lnSpc>
              <a:buFont typeface="Arial"/>
              <a:buChar char="•"/>
            </a:pPr>
            <a:r>
              <a:rPr lang="en-US" b="true" sz="2999" spc="-164" u="sng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Ease of Entry</a:t>
            </a:r>
            <a:r>
              <a:rPr lang="en-US" b="true" sz="2999" spc="-164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 - </a:t>
            </a:r>
            <a:r>
              <a:rPr lang="en-US" sz="2999" spc="-164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Moderate</a:t>
            </a:r>
          </a:p>
          <a:p>
            <a:pPr algn="l">
              <a:lnSpc>
                <a:spcPts val="3869"/>
              </a:lnSpc>
            </a:pPr>
          </a:p>
          <a:p>
            <a:pPr algn="l" marL="647700" indent="-323850" lvl="1">
              <a:lnSpc>
                <a:spcPts val="3869"/>
              </a:lnSpc>
              <a:buFont typeface="Arial"/>
              <a:buChar char="•"/>
            </a:pPr>
            <a:r>
              <a:rPr lang="en-US" b="true" sz="2999" spc="-164" u="sng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Key Trends</a:t>
            </a:r>
            <a:r>
              <a:rPr lang="en-US" b="true" sz="2999" spc="-164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 - </a:t>
            </a:r>
            <a:r>
              <a:rPr lang="en-US" sz="2999" spc="-164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Smart sensors,  AI prediction, reservations, mobile payments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656480" y="7526655"/>
            <a:ext cx="8770913" cy="1731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15"/>
              </a:lnSpc>
            </a:pPr>
            <a:r>
              <a:rPr lang="en-US" sz="3500" spc="-192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Source: Market.us</a:t>
            </a:r>
          </a:p>
          <a:p>
            <a:pPr algn="l">
              <a:lnSpc>
                <a:spcPts val="4515"/>
              </a:lnSpc>
              <a:spcBef>
                <a:spcPct val="0"/>
              </a:spcBef>
            </a:pPr>
            <a:r>
              <a:rPr lang="en-US" sz="3500" spc="-19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https://market.us/report/parking-finder-apps-market/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95680" y="1888414"/>
            <a:ext cx="17096641" cy="7996626"/>
            <a:chOff x="0" y="0"/>
            <a:chExt cx="4482881" cy="209678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82881" cy="2096782"/>
            </a:xfrm>
            <a:custGeom>
              <a:avLst/>
              <a:gdLst/>
              <a:ahLst/>
              <a:cxnLst/>
              <a:rect r="r" b="b" t="t" l="l"/>
              <a:pathLst>
                <a:path h="2096782" w="4482881">
                  <a:moveTo>
                    <a:pt x="0" y="0"/>
                  </a:moveTo>
                  <a:lnTo>
                    <a:pt x="4482881" y="0"/>
                  </a:lnTo>
                  <a:lnTo>
                    <a:pt x="4482881" y="2096782"/>
                  </a:lnTo>
                  <a:lnTo>
                    <a:pt x="0" y="2096782"/>
                  </a:lnTo>
                  <a:close/>
                </a:path>
              </a:pathLst>
            </a:custGeom>
            <a:solidFill>
              <a:srgbClr val="363636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878216" y="2204840"/>
            <a:ext cx="6812259" cy="6704241"/>
            <a:chOff x="0" y="0"/>
            <a:chExt cx="1055397" cy="103866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55397" cy="1038662"/>
            </a:xfrm>
            <a:custGeom>
              <a:avLst/>
              <a:gdLst/>
              <a:ahLst/>
              <a:cxnLst/>
              <a:rect r="r" b="b" t="t" l="l"/>
              <a:pathLst>
                <a:path h="1038662" w="1055397">
                  <a:moveTo>
                    <a:pt x="0" y="0"/>
                  </a:moveTo>
                  <a:lnTo>
                    <a:pt x="1055397" y="0"/>
                  </a:lnTo>
                  <a:lnTo>
                    <a:pt x="1055397" y="1038662"/>
                  </a:lnTo>
                  <a:lnTo>
                    <a:pt x="0" y="1038662"/>
                  </a:lnTo>
                  <a:close/>
                </a:path>
              </a:pathLst>
            </a:custGeom>
            <a:solidFill>
              <a:srgbClr val="363636"/>
            </a:solidFill>
            <a:ln w="95250" cap="sq">
              <a:gradFill>
                <a:gsLst>
                  <a:gs pos="0">
                    <a:srgbClr val="FF3131">
                      <a:alpha val="100000"/>
                    </a:srgbClr>
                  </a:gs>
                  <a:gs pos="100000">
                    <a:srgbClr val="FF914D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0" y="10557"/>
            <a:ext cx="18620738" cy="1629451"/>
            <a:chOff x="0" y="0"/>
            <a:chExt cx="24827651" cy="2172602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24827651" cy="2172602"/>
              <a:chOff x="0" y="0"/>
              <a:chExt cx="2884840" cy="252445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2884840" cy="252445"/>
              </a:xfrm>
              <a:custGeom>
                <a:avLst/>
                <a:gdLst/>
                <a:ahLst/>
                <a:cxnLst/>
                <a:rect r="r" b="b" t="t" l="l"/>
                <a:pathLst>
                  <a:path h="252445" w="2884840">
                    <a:moveTo>
                      <a:pt x="0" y="0"/>
                    </a:moveTo>
                    <a:lnTo>
                      <a:pt x="2884840" y="0"/>
                    </a:lnTo>
                    <a:lnTo>
                      <a:pt x="2884840" y="252445"/>
                    </a:lnTo>
                    <a:lnTo>
                      <a:pt x="0" y="252445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F3131">
                      <a:alpha val="100000"/>
                    </a:srgbClr>
                  </a:gs>
                  <a:gs pos="100000">
                    <a:srgbClr val="FF914D">
                      <a:alpha val="100000"/>
                    </a:srgbClr>
                  </a:gs>
                </a:gsLst>
                <a:lin ang="2700000"/>
              </a:gradFill>
            </p:spPr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584084" cy="2172602"/>
            </a:xfrm>
            <a:custGeom>
              <a:avLst/>
              <a:gdLst/>
              <a:ahLst/>
              <a:cxnLst/>
              <a:rect r="r" b="b" t="t" l="l"/>
              <a:pathLst>
                <a:path h="2172602" w="2584084">
                  <a:moveTo>
                    <a:pt x="0" y="0"/>
                  </a:moveTo>
                  <a:lnTo>
                    <a:pt x="2584084" y="0"/>
                  </a:lnTo>
                  <a:lnTo>
                    <a:pt x="2584084" y="2172602"/>
                  </a:lnTo>
                  <a:lnTo>
                    <a:pt x="0" y="21726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9469" r="0" b="-9469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2766562" y="-176080"/>
              <a:ext cx="20823199" cy="21247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2239"/>
                </a:lnSpc>
              </a:pPr>
              <a:r>
                <a:rPr lang="en-US" sz="8499" b="true">
                  <a:solidFill>
                    <a:srgbClr val="FFFFFF"/>
                  </a:solidFill>
                  <a:latin typeface="Heading Now 31-38 Bold"/>
                  <a:ea typeface="Heading Now 31-38 Bold"/>
                  <a:cs typeface="Heading Now 31-38 Bold"/>
                  <a:sym typeface="Heading Now 31-38 Bold"/>
                </a:rPr>
                <a:t>COMPETITIVE ANALYSIS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913934" y="2532436"/>
            <a:ext cx="9476293" cy="6376645"/>
            <a:chOff x="0" y="0"/>
            <a:chExt cx="12635057" cy="8502194"/>
          </a:xfrm>
        </p:grpSpPr>
        <p:sp>
          <p:nvSpPr>
            <p:cNvPr name="AutoShape 13" id="13"/>
            <p:cNvSpPr/>
            <p:nvPr/>
          </p:nvSpPr>
          <p:spPr>
            <a:xfrm>
              <a:off x="2991150" y="0"/>
              <a:ext cx="0" cy="8502194"/>
            </a:xfrm>
            <a:prstGeom prst="line">
              <a:avLst/>
            </a:prstGeom>
            <a:ln cap="flat" w="44035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4" id="14"/>
            <p:cNvSpPr txBox="true"/>
            <p:nvPr/>
          </p:nvSpPr>
          <p:spPr>
            <a:xfrm rot="0">
              <a:off x="121097" y="798639"/>
              <a:ext cx="2847324" cy="12255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44"/>
                </a:lnSpc>
                <a:spcBef>
                  <a:spcPct val="0"/>
                </a:spcBef>
              </a:pPr>
              <a:r>
                <a:rPr lang="en-US" b="true" sz="26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Sales Revenue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55044" y="2776261"/>
              <a:ext cx="2847324" cy="5980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44"/>
                </a:lnSpc>
                <a:spcBef>
                  <a:spcPct val="0"/>
                </a:spcBef>
              </a:pPr>
              <a:r>
                <a:rPr lang="en-US" b="true" sz="26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Reach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66053" y="4839318"/>
              <a:ext cx="2847324" cy="5980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44"/>
                </a:lnSpc>
                <a:spcBef>
                  <a:spcPct val="0"/>
                </a:spcBef>
              </a:pPr>
              <a:r>
                <a:rPr lang="en-US" b="true" sz="26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Price Point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6625143"/>
              <a:ext cx="2847324" cy="12255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44"/>
                </a:lnSpc>
              </a:pPr>
              <a:r>
                <a:rPr lang="en-US" sz="26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Market </a:t>
              </a:r>
            </a:p>
            <a:p>
              <a:pPr algn="ctr">
                <a:lnSpc>
                  <a:spcPts val="3744"/>
                </a:lnSpc>
                <a:spcBef>
                  <a:spcPct val="0"/>
                </a:spcBef>
              </a:pPr>
              <a:r>
                <a:rPr lang="en-US" b="true" sz="26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Share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3134265" y="1598"/>
              <a:ext cx="2847324" cy="5980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44"/>
                </a:lnSpc>
                <a:spcBef>
                  <a:spcPct val="0"/>
                </a:spcBef>
              </a:pPr>
              <a:r>
                <a:rPr lang="en-US" b="true" sz="26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Spot Hero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6422994" y="1598"/>
              <a:ext cx="2847324" cy="5980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44"/>
                </a:lnSpc>
                <a:spcBef>
                  <a:spcPct val="0"/>
                </a:spcBef>
              </a:pPr>
              <a:r>
                <a:rPr lang="en-US" b="true" sz="26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Park Mobile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9556548" y="1598"/>
              <a:ext cx="2847324" cy="5980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44"/>
                </a:lnSpc>
                <a:spcBef>
                  <a:spcPct val="0"/>
                </a:spcBef>
              </a:pPr>
              <a:r>
                <a:rPr lang="en-US" b="true" sz="26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Park Whiz</a:t>
              </a:r>
            </a:p>
          </p:txBody>
        </p:sp>
        <p:sp>
          <p:nvSpPr>
            <p:cNvPr name="AutoShape 21" id="21"/>
            <p:cNvSpPr/>
            <p:nvPr/>
          </p:nvSpPr>
          <p:spPr>
            <a:xfrm>
              <a:off x="6167916" y="77798"/>
              <a:ext cx="0" cy="8424395"/>
            </a:xfrm>
            <a:prstGeom prst="line">
              <a:avLst/>
            </a:prstGeom>
            <a:ln cap="flat" w="44035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2" id="22"/>
            <p:cNvSpPr/>
            <p:nvPr/>
          </p:nvSpPr>
          <p:spPr>
            <a:xfrm flipH="true">
              <a:off x="9534530" y="0"/>
              <a:ext cx="0" cy="8482669"/>
            </a:xfrm>
            <a:prstGeom prst="line">
              <a:avLst/>
            </a:prstGeom>
            <a:ln cap="flat" w="44035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3" id="23"/>
            <p:cNvSpPr/>
            <p:nvPr/>
          </p:nvSpPr>
          <p:spPr>
            <a:xfrm>
              <a:off x="337590" y="2196381"/>
              <a:ext cx="12066281" cy="0"/>
            </a:xfrm>
            <a:prstGeom prst="line">
              <a:avLst/>
            </a:prstGeom>
            <a:ln cap="flat" w="44035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4" id="24"/>
            <p:cNvSpPr/>
            <p:nvPr/>
          </p:nvSpPr>
          <p:spPr>
            <a:xfrm>
              <a:off x="337590" y="4144899"/>
              <a:ext cx="12066281" cy="0"/>
            </a:xfrm>
            <a:prstGeom prst="line">
              <a:avLst/>
            </a:prstGeom>
            <a:ln cap="flat" w="44035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5" id="25"/>
            <p:cNvSpPr/>
            <p:nvPr/>
          </p:nvSpPr>
          <p:spPr>
            <a:xfrm>
              <a:off x="337590" y="6174930"/>
              <a:ext cx="12066281" cy="0"/>
            </a:xfrm>
            <a:prstGeom prst="line">
              <a:avLst/>
            </a:prstGeom>
            <a:ln cap="flat" w="44035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6" id="26"/>
            <p:cNvSpPr/>
            <p:nvPr/>
          </p:nvSpPr>
          <p:spPr>
            <a:xfrm>
              <a:off x="337590" y="775759"/>
              <a:ext cx="12066281" cy="0"/>
            </a:xfrm>
            <a:prstGeom prst="line">
              <a:avLst/>
            </a:prstGeom>
            <a:ln cap="flat" w="44035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27" id="27"/>
            <p:cNvSpPr txBox="true"/>
            <p:nvPr/>
          </p:nvSpPr>
          <p:spPr>
            <a:xfrm rot="0">
              <a:off x="3134265" y="909445"/>
              <a:ext cx="2847324" cy="10134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167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$75 million+ annually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6422994" y="946015"/>
              <a:ext cx="2847324" cy="10134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167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35+ million annually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9677645" y="909445"/>
              <a:ext cx="2847324" cy="10134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167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$8-$11 million+ annually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3134265" y="2305848"/>
              <a:ext cx="2847324" cy="15308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167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11,000 locations across 400 cities 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6311031" y="2436944"/>
              <a:ext cx="2959287" cy="14197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0"/>
                </a:lnSpc>
                <a:spcBef>
                  <a:spcPct val="0"/>
                </a:spcBef>
              </a:pPr>
              <a:r>
                <a:rPr lang="en-US" b="true" sz="1993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600 cities and municipalities and 140 universities 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9721680" y="2350156"/>
              <a:ext cx="2847324" cy="15308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167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230 cities across the U.S and Canada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3155871" y="4353445"/>
              <a:ext cx="2847324" cy="15308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167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20%-30% taken from each reservation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6432128" y="4579126"/>
              <a:ext cx="2847324" cy="10134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167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$0.20-$0.50 transaction fee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9677645" y="4320419"/>
              <a:ext cx="2847324" cy="15308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167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Upfront pricing which reported to be 10%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3134265" y="6764382"/>
              <a:ext cx="2847324" cy="10134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167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10 million+ users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6422994" y="7181617"/>
              <a:ext cx="2847324" cy="4960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167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59 million users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9787733" y="6922909"/>
              <a:ext cx="2847324" cy="10134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167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40 million customers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273596" y="2648456"/>
            <a:ext cx="6179480" cy="5313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3"/>
              </a:lnSpc>
            </a:pPr>
            <a:r>
              <a:rPr lang="en-US" sz="4002" u="sng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Key Takeaways:</a:t>
            </a:r>
          </a:p>
          <a:p>
            <a:pPr algn="l" marL="777763" indent="-388882" lvl="1">
              <a:lnSpc>
                <a:spcPts val="5187"/>
              </a:lnSpc>
              <a:buFont typeface="Arial"/>
              <a:buChar char="•"/>
            </a:pPr>
            <a:r>
              <a:rPr lang="en-US" b="true" sz="3602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3 Major Competitors</a:t>
            </a:r>
          </a:p>
          <a:p>
            <a:pPr algn="l" marL="777763" indent="-388882" lvl="1">
              <a:lnSpc>
                <a:spcPts val="5187"/>
              </a:lnSpc>
              <a:buFont typeface="Arial"/>
              <a:buChar char="•"/>
            </a:pPr>
            <a:r>
              <a:rPr lang="en-US" b="true" sz="3602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Spot Hero largest market penetration</a:t>
            </a:r>
          </a:p>
          <a:p>
            <a:pPr algn="l" marL="777763" indent="-388882" lvl="1">
              <a:lnSpc>
                <a:spcPts val="5187"/>
              </a:lnSpc>
              <a:buFont typeface="Arial"/>
              <a:buChar char="•"/>
            </a:pPr>
            <a:r>
              <a:rPr lang="en-US" b="true" sz="3602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Offer the same/similar service</a:t>
            </a:r>
          </a:p>
          <a:p>
            <a:pPr algn="l" marL="777763" indent="-388882" lvl="1">
              <a:lnSpc>
                <a:spcPts val="5187"/>
              </a:lnSpc>
              <a:buFont typeface="Arial"/>
              <a:buChar char="•"/>
            </a:pPr>
            <a:r>
              <a:rPr lang="en-US" b="true" sz="3602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Large return on investment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636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-754271"/>
            <a:ext cx="125852" cy="13863873"/>
            <a:chOff x="0" y="0"/>
            <a:chExt cx="7378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378" cy="812800"/>
            </a:xfrm>
            <a:custGeom>
              <a:avLst/>
              <a:gdLst/>
              <a:ahLst/>
              <a:cxnLst/>
              <a:rect r="r" b="b" t="t" l="l"/>
              <a:pathLst>
                <a:path h="812800" w="7378">
                  <a:moveTo>
                    <a:pt x="0" y="0"/>
                  </a:moveTo>
                  <a:lnTo>
                    <a:pt x="7378" y="0"/>
                  </a:lnTo>
                  <a:lnTo>
                    <a:pt x="7378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FF3131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9136243" y="2409534"/>
            <a:ext cx="8854831" cy="2758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21" indent="-302261" lvl="1">
              <a:lnSpc>
                <a:spcPts val="3612"/>
              </a:lnSpc>
              <a:buFont typeface="Arial"/>
              <a:buChar char="•"/>
            </a:pPr>
            <a:r>
              <a:rPr lang="en-US" b="true" sz="2800" spc="-154">
                <a:solidFill>
                  <a:srgbClr val="FDB256"/>
                </a:solidFill>
                <a:latin typeface="Arial Bold"/>
                <a:ea typeface="Arial Bold"/>
                <a:cs typeface="Arial Bold"/>
                <a:sym typeface="Arial Bold"/>
              </a:rPr>
              <a:t>Heavy reliance on third-party garages for access to sensor data.</a:t>
            </a:r>
          </a:p>
          <a:p>
            <a:pPr algn="l" marL="604521" indent="-302261" lvl="1">
              <a:lnSpc>
                <a:spcPts val="3612"/>
              </a:lnSpc>
              <a:buFont typeface="Arial"/>
              <a:buChar char="•"/>
            </a:pPr>
            <a:r>
              <a:rPr lang="en-US" b="true" sz="2800" spc="-154">
                <a:solidFill>
                  <a:srgbClr val="FDB256"/>
                </a:solidFill>
                <a:latin typeface="Arial Bold"/>
                <a:ea typeface="Arial Bold"/>
                <a:cs typeface="Arial Bold"/>
                <a:sym typeface="Arial Bold"/>
              </a:rPr>
              <a:t>Ongoing maintenance costs.</a:t>
            </a:r>
          </a:p>
          <a:p>
            <a:pPr algn="l" marL="604521" indent="-302261" lvl="1">
              <a:lnSpc>
                <a:spcPts val="3612"/>
              </a:lnSpc>
              <a:buFont typeface="Arial"/>
              <a:buChar char="•"/>
            </a:pPr>
            <a:r>
              <a:rPr lang="en-US" b="true" sz="2800" spc="-154">
                <a:solidFill>
                  <a:srgbClr val="FDB256"/>
                </a:solidFill>
                <a:latin typeface="Arial Bold"/>
                <a:ea typeface="Arial Bold"/>
                <a:cs typeface="Arial Bold"/>
                <a:sym typeface="Arial Bold"/>
              </a:rPr>
              <a:t>High upfront technology costs.</a:t>
            </a:r>
          </a:p>
          <a:p>
            <a:pPr algn="l" marL="604521" indent="-302261" lvl="1">
              <a:lnSpc>
                <a:spcPts val="3612"/>
              </a:lnSpc>
              <a:buFont typeface="Arial"/>
              <a:buChar char="•"/>
            </a:pPr>
            <a:r>
              <a:rPr lang="en-US" b="true" sz="2800" spc="-154">
                <a:solidFill>
                  <a:srgbClr val="FDB256"/>
                </a:solidFill>
                <a:latin typeface="Arial Bold"/>
                <a:ea typeface="Arial Bold"/>
                <a:cs typeface="Arial Bold"/>
                <a:sym typeface="Arial Bold"/>
              </a:rPr>
              <a:t>No existing brand recognition.</a:t>
            </a:r>
          </a:p>
          <a:p>
            <a:pPr algn="l">
              <a:lnSpc>
                <a:spcPts val="3612"/>
              </a:lnSpc>
            </a:pPr>
          </a:p>
        </p:txBody>
      </p:sp>
      <p:grpSp>
        <p:nvGrpSpPr>
          <p:cNvPr name="Group 5" id="5"/>
          <p:cNvGrpSpPr/>
          <p:nvPr/>
        </p:nvGrpSpPr>
        <p:grpSpPr>
          <a:xfrm rot="-5400000">
            <a:off x="9057150" y="-3326820"/>
            <a:ext cx="165943" cy="18280243"/>
            <a:chOff x="0" y="0"/>
            <a:chExt cx="7378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378" cy="812800"/>
            </a:xfrm>
            <a:custGeom>
              <a:avLst/>
              <a:gdLst/>
              <a:ahLst/>
              <a:cxnLst/>
              <a:rect r="r" b="b" t="t" l="l"/>
              <a:pathLst>
                <a:path h="812800" w="7378">
                  <a:moveTo>
                    <a:pt x="0" y="0"/>
                  </a:moveTo>
                  <a:lnTo>
                    <a:pt x="7378" y="0"/>
                  </a:lnTo>
                  <a:lnTo>
                    <a:pt x="7378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FF3131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0" y="0"/>
            <a:ext cx="18288000" cy="1443110"/>
            <a:chOff x="0" y="0"/>
            <a:chExt cx="24384000" cy="1924147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24384000" cy="1924147"/>
              <a:chOff x="0" y="0"/>
              <a:chExt cx="3199138" cy="252445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3199138" cy="252445"/>
              </a:xfrm>
              <a:custGeom>
                <a:avLst/>
                <a:gdLst/>
                <a:ahLst/>
                <a:cxnLst/>
                <a:rect r="r" b="b" t="t" l="l"/>
                <a:pathLst>
                  <a:path h="252445" w="3199138">
                    <a:moveTo>
                      <a:pt x="0" y="0"/>
                    </a:moveTo>
                    <a:lnTo>
                      <a:pt x="3199138" y="0"/>
                    </a:lnTo>
                    <a:lnTo>
                      <a:pt x="3199138" y="252445"/>
                    </a:lnTo>
                    <a:lnTo>
                      <a:pt x="0" y="252445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F3131">
                      <a:alpha val="100000"/>
                    </a:srgbClr>
                  </a:gs>
                  <a:gs pos="100000">
                    <a:srgbClr val="FF914D">
                      <a:alpha val="100000"/>
                    </a:srgbClr>
                  </a:gs>
                </a:gsLst>
                <a:lin ang="2700000"/>
              </a:gradFill>
            </p:spPr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537909" cy="1924147"/>
            </a:xfrm>
            <a:custGeom>
              <a:avLst/>
              <a:gdLst/>
              <a:ahLst/>
              <a:cxnLst/>
              <a:rect r="r" b="b" t="t" l="l"/>
              <a:pathLst>
                <a:path h="1924147" w="2537909">
                  <a:moveTo>
                    <a:pt x="0" y="0"/>
                  </a:moveTo>
                  <a:lnTo>
                    <a:pt x="2537909" y="0"/>
                  </a:lnTo>
                  <a:lnTo>
                    <a:pt x="2537909" y="1924147"/>
                  </a:lnTo>
                  <a:lnTo>
                    <a:pt x="0" y="19241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5948" r="0" b="-1594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2717125" y="-253896"/>
              <a:ext cx="20451104" cy="20414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1703"/>
                </a:lnSpc>
              </a:pPr>
              <a:r>
                <a:rPr lang="en-US" sz="8127" b="true">
                  <a:solidFill>
                    <a:srgbClr val="FFFFFF"/>
                  </a:solidFill>
                  <a:latin typeface="Heading Now 31-38 Bold"/>
                  <a:ea typeface="Heading Now 31-38 Bold"/>
                  <a:cs typeface="Heading Now 31-38 Bold"/>
                  <a:sym typeface="Heading Now 31-38 Bold"/>
                </a:rPr>
                <a:t>ENVIRONMENTAL ANALYSIS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9333977" y="6842954"/>
            <a:ext cx="8954023" cy="3673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611"/>
              </a:lnSpc>
              <a:buFont typeface="Arial"/>
              <a:buChar char="•"/>
            </a:pPr>
            <a:r>
              <a:rPr lang="en-US" b="true" sz="2799" spc="-153">
                <a:solidFill>
                  <a:srgbClr val="FDB256"/>
                </a:solidFill>
                <a:latin typeface="Arial Bold"/>
                <a:ea typeface="Arial Bold"/>
                <a:cs typeface="Arial Bold"/>
                <a:sym typeface="Arial Bold"/>
              </a:rPr>
              <a:t>Strong competition (SpotHero, ParkMobile, ParkWhiz) </a:t>
            </a:r>
          </a:p>
          <a:p>
            <a:pPr algn="l" marL="604519" indent="-302260" lvl="1">
              <a:lnSpc>
                <a:spcPts val="3611"/>
              </a:lnSpc>
              <a:buFont typeface="Arial"/>
              <a:buChar char="•"/>
            </a:pPr>
            <a:r>
              <a:rPr lang="en-US" b="true" sz="2799" spc="-153">
                <a:solidFill>
                  <a:srgbClr val="FDB256"/>
                </a:solidFill>
                <a:latin typeface="Arial Bold"/>
                <a:ea typeface="Arial Bold"/>
                <a:cs typeface="Arial Bold"/>
                <a:sym typeface="Arial Bold"/>
              </a:rPr>
              <a:t>Garage resistance or lack of sensor infrastructure.</a:t>
            </a:r>
          </a:p>
          <a:p>
            <a:pPr algn="l" marL="604519" indent="-302260" lvl="1">
              <a:lnSpc>
                <a:spcPts val="3611"/>
              </a:lnSpc>
              <a:buFont typeface="Arial"/>
              <a:buChar char="•"/>
            </a:pPr>
            <a:r>
              <a:rPr lang="en-US" b="true" sz="2799" spc="-153">
                <a:solidFill>
                  <a:srgbClr val="FDB256"/>
                </a:solidFill>
                <a:latin typeface="Arial Bold"/>
                <a:ea typeface="Arial Bold"/>
                <a:cs typeface="Arial Bold"/>
                <a:sym typeface="Arial Bold"/>
              </a:rPr>
              <a:t>Privacy and security concerns with user location data.</a:t>
            </a:r>
          </a:p>
          <a:p>
            <a:pPr algn="l" marL="604519" indent="-302260" lvl="1">
              <a:lnSpc>
                <a:spcPts val="3611"/>
              </a:lnSpc>
              <a:buFont typeface="Arial"/>
              <a:buChar char="•"/>
            </a:pPr>
            <a:r>
              <a:rPr lang="en-US" b="true" sz="2799" spc="-153">
                <a:solidFill>
                  <a:srgbClr val="FDB256"/>
                </a:solidFill>
                <a:latin typeface="Arial Bold"/>
                <a:ea typeface="Arial Bold"/>
                <a:cs typeface="Arial Bold"/>
                <a:sym typeface="Arial Bold"/>
              </a:rPr>
              <a:t>During an economic downturn, demand for parking apps could drop.</a:t>
            </a:r>
          </a:p>
          <a:p>
            <a:pPr algn="l" marL="604519" indent="-302260" lvl="1">
              <a:lnSpc>
                <a:spcPts val="3611"/>
              </a:lnSpc>
              <a:buFont typeface="Arial"/>
              <a:buChar char="•"/>
            </a:pPr>
            <a:r>
              <a:rPr lang="en-US" b="true" sz="2799" spc="-153">
                <a:solidFill>
                  <a:srgbClr val="FDB256"/>
                </a:solidFill>
                <a:latin typeface="Arial Bold"/>
                <a:ea typeface="Arial Bold"/>
                <a:cs typeface="Arial Bold"/>
                <a:sym typeface="Arial Bold"/>
              </a:rPr>
              <a:t>Technological changes in mobility </a:t>
            </a:r>
          </a:p>
          <a:p>
            <a:pPr algn="l">
              <a:lnSpc>
                <a:spcPts val="3611"/>
              </a:lnSpc>
            </a:pPr>
          </a:p>
          <a:p>
            <a:pPr algn="l">
              <a:lnSpc>
                <a:spcPts val="3611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553576" y="1253043"/>
            <a:ext cx="2193197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19"/>
              </a:lnSpc>
            </a:pPr>
            <a:r>
              <a:rPr lang="en-US" b="true" sz="5499" u="sng">
                <a:solidFill>
                  <a:srgbClr val="FCFAF9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STRENGTHS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-3879" y="2390761"/>
            <a:ext cx="9144000" cy="2955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870"/>
              </a:lnSpc>
              <a:buFont typeface="Arial"/>
              <a:buChar char="•"/>
            </a:pPr>
            <a:r>
              <a:rPr lang="en-US" b="true" sz="3000" spc="-165">
                <a:solidFill>
                  <a:srgbClr val="FDB256"/>
                </a:solidFill>
                <a:latin typeface="Arial Bold"/>
                <a:ea typeface="Arial Bold"/>
                <a:cs typeface="Arial Bold"/>
                <a:sym typeface="Arial Bold"/>
              </a:rPr>
              <a:t>Can partner with parking garages to use integrated sensors and data.</a:t>
            </a:r>
          </a:p>
          <a:p>
            <a:pPr algn="l" marL="647700" indent="-323850" lvl="1">
              <a:lnSpc>
                <a:spcPts val="3870"/>
              </a:lnSpc>
              <a:buFont typeface="Arial"/>
              <a:buChar char="•"/>
            </a:pPr>
            <a:r>
              <a:rPr lang="en-US" b="true" sz="3000" spc="-165">
                <a:solidFill>
                  <a:srgbClr val="FDB256"/>
                </a:solidFill>
                <a:latin typeface="Arial Bold"/>
                <a:ea typeface="Arial Bold"/>
                <a:cs typeface="Arial Bold"/>
                <a:sym typeface="Arial Bold"/>
              </a:rPr>
              <a:t>Strong customer need in densely populated areas.</a:t>
            </a:r>
          </a:p>
          <a:p>
            <a:pPr algn="l" marL="647700" indent="-323850" lvl="1">
              <a:lnSpc>
                <a:spcPts val="3870"/>
              </a:lnSpc>
              <a:buFont typeface="Arial"/>
              <a:buChar char="•"/>
            </a:pPr>
            <a:r>
              <a:rPr lang="en-US" b="true" sz="3000" spc="-165">
                <a:solidFill>
                  <a:srgbClr val="FDB256"/>
                </a:solidFill>
                <a:latin typeface="Arial Bold"/>
                <a:ea typeface="Arial Bold"/>
                <a:cs typeface="Arial Bold"/>
                <a:sym typeface="Arial Bold"/>
              </a:rPr>
              <a:t>Saves drivers' time and increases convenience. </a:t>
            </a:r>
          </a:p>
          <a:p>
            <a:pPr algn="l">
              <a:lnSpc>
                <a:spcPts val="3870"/>
              </a:lnSpc>
            </a:pPr>
          </a:p>
          <a:p>
            <a:pPr algn="l">
              <a:lnSpc>
                <a:spcPts val="4127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-3879" y="6947158"/>
            <a:ext cx="9140121" cy="3398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1" indent="-280670" lvl="1">
              <a:lnSpc>
                <a:spcPts val="3354"/>
              </a:lnSpc>
              <a:buFont typeface="Arial"/>
              <a:buChar char="•"/>
            </a:pPr>
            <a:r>
              <a:rPr lang="en-US" b="true" sz="2600" spc="-143">
                <a:solidFill>
                  <a:srgbClr val="FDB256"/>
                </a:solidFill>
                <a:latin typeface="Arial Bold"/>
                <a:ea typeface="Arial Bold"/>
                <a:cs typeface="Arial Bold"/>
                <a:sym typeface="Arial Bold"/>
              </a:rPr>
              <a:t>Growing digital parking market.</a:t>
            </a:r>
          </a:p>
          <a:p>
            <a:pPr algn="l" marL="561341" indent="-280670" lvl="1">
              <a:lnSpc>
                <a:spcPts val="3354"/>
              </a:lnSpc>
              <a:buFont typeface="Arial"/>
              <a:buChar char="•"/>
            </a:pPr>
            <a:r>
              <a:rPr lang="en-US" b="true" sz="2600" spc="-143">
                <a:solidFill>
                  <a:srgbClr val="FDB256"/>
                </a:solidFill>
                <a:latin typeface="Arial Bold"/>
                <a:ea typeface="Arial Bold"/>
                <a:cs typeface="Arial Bold"/>
                <a:sym typeface="Arial Bold"/>
              </a:rPr>
              <a:t>No major competitor offers true real-time nationwide capacity</a:t>
            </a:r>
          </a:p>
          <a:p>
            <a:pPr algn="l" marL="561341" indent="-280670" lvl="1">
              <a:lnSpc>
                <a:spcPts val="3354"/>
              </a:lnSpc>
              <a:buFont typeface="Arial"/>
              <a:buChar char="•"/>
            </a:pPr>
            <a:r>
              <a:rPr lang="en-US" b="true" sz="2600" spc="-143">
                <a:solidFill>
                  <a:srgbClr val="FDB256"/>
                </a:solidFill>
                <a:latin typeface="Arial Bold"/>
                <a:ea typeface="Arial Bold"/>
                <a:cs typeface="Arial Bold"/>
                <a:sym typeface="Arial Bold"/>
              </a:rPr>
              <a:t>High-demand segments: commuters, interns, tourists, event-goers.</a:t>
            </a:r>
          </a:p>
          <a:p>
            <a:pPr algn="l" marL="561341" indent="-280670" lvl="1">
              <a:lnSpc>
                <a:spcPts val="3354"/>
              </a:lnSpc>
              <a:buFont typeface="Arial"/>
              <a:buChar char="•"/>
            </a:pPr>
            <a:r>
              <a:rPr lang="en-US" b="true" sz="2600" spc="-143">
                <a:solidFill>
                  <a:srgbClr val="FDB256"/>
                </a:solidFill>
                <a:latin typeface="Arial Bold"/>
                <a:ea typeface="Arial Bold"/>
                <a:cs typeface="Arial Bold"/>
                <a:sym typeface="Arial Bold"/>
              </a:rPr>
              <a:t>Monetization scalability.</a:t>
            </a:r>
          </a:p>
          <a:p>
            <a:pPr algn="l" marL="561341" indent="-280670" lvl="1">
              <a:lnSpc>
                <a:spcPts val="3354"/>
              </a:lnSpc>
              <a:buFont typeface="Arial"/>
              <a:buChar char="•"/>
            </a:pPr>
            <a:r>
              <a:rPr lang="en-US" b="true" sz="2600" spc="-143">
                <a:solidFill>
                  <a:srgbClr val="FDB256"/>
                </a:solidFill>
                <a:latin typeface="Arial Bold"/>
                <a:ea typeface="Arial Bold"/>
                <a:cs typeface="Arial Bold"/>
                <a:sym typeface="Arial Bold"/>
              </a:rPr>
              <a:t>Partnerships with cities, universities, stadiums, and large parking chains.</a:t>
            </a:r>
          </a:p>
          <a:p>
            <a:pPr algn="l">
              <a:lnSpc>
                <a:spcPts val="3611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553576" y="5705773"/>
            <a:ext cx="3060246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19"/>
              </a:lnSpc>
            </a:pPr>
            <a:r>
              <a:rPr lang="en-US" b="true" sz="5499" u="sng">
                <a:solidFill>
                  <a:srgbClr val="FCFAF9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OPPORTUNITIES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661334" y="1253043"/>
            <a:ext cx="2498328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19"/>
              </a:lnSpc>
            </a:pPr>
            <a:r>
              <a:rPr lang="en-US" b="true" sz="5499" u="sng">
                <a:solidFill>
                  <a:srgbClr val="FCFAF9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WEAKNESSES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821847" y="5686619"/>
            <a:ext cx="3060246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19"/>
              </a:lnSpc>
            </a:pPr>
            <a:r>
              <a:rPr lang="en-US" b="true" sz="5499" u="sng">
                <a:solidFill>
                  <a:srgbClr val="FCFAF9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THREATS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95680" y="1629451"/>
            <a:ext cx="17096641" cy="8255589"/>
            <a:chOff x="0" y="0"/>
            <a:chExt cx="4482881" cy="216468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82881" cy="2164684"/>
            </a:xfrm>
            <a:custGeom>
              <a:avLst/>
              <a:gdLst/>
              <a:ahLst/>
              <a:cxnLst/>
              <a:rect r="r" b="b" t="t" l="l"/>
              <a:pathLst>
                <a:path h="2164684" w="4482881">
                  <a:moveTo>
                    <a:pt x="0" y="0"/>
                  </a:moveTo>
                  <a:lnTo>
                    <a:pt x="4482881" y="0"/>
                  </a:lnTo>
                  <a:lnTo>
                    <a:pt x="4482881" y="2164684"/>
                  </a:lnTo>
                  <a:lnTo>
                    <a:pt x="0" y="2164684"/>
                  </a:lnTo>
                  <a:close/>
                </a:path>
              </a:pathLst>
            </a:custGeom>
            <a:solidFill>
              <a:srgbClr val="363636"/>
            </a:solidFill>
            <a:ln w="95250" cap="sq">
              <a:gradFill>
                <a:gsLst>
                  <a:gs pos="0">
                    <a:srgbClr val="FF3131">
                      <a:alpha val="100000"/>
                    </a:srgbClr>
                  </a:gs>
                  <a:gs pos="100000">
                    <a:srgbClr val="FF914D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  <p:sp>
        <p:nvSpPr>
          <p:cNvPr name="AutoShape 5" id="5"/>
          <p:cNvSpPr/>
          <p:nvPr/>
        </p:nvSpPr>
        <p:spPr>
          <a:xfrm>
            <a:off x="595680" y="4682404"/>
            <a:ext cx="17096641" cy="0"/>
          </a:xfrm>
          <a:prstGeom prst="line">
            <a:avLst/>
          </a:prstGeom>
          <a:ln cap="flat" w="76200">
            <a:gradFill>
              <a:gsLst>
                <a:gs pos="0">
                  <a:srgbClr val="FF3131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595680" y="6796683"/>
            <a:ext cx="17096641" cy="0"/>
          </a:xfrm>
          <a:prstGeom prst="line">
            <a:avLst/>
          </a:prstGeom>
          <a:ln cap="flat" w="76200">
            <a:gradFill>
              <a:gsLst>
                <a:gs pos="0">
                  <a:srgbClr val="FF3131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595680" y="8610595"/>
            <a:ext cx="17096641" cy="0"/>
          </a:xfrm>
          <a:prstGeom prst="line">
            <a:avLst/>
          </a:prstGeom>
          <a:ln cap="flat" w="76200">
            <a:gradFill>
              <a:gsLst>
                <a:gs pos="0">
                  <a:srgbClr val="FF3131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V="true">
            <a:off x="8648815" y="1690440"/>
            <a:ext cx="0" cy="8194600"/>
          </a:xfrm>
          <a:prstGeom prst="line">
            <a:avLst/>
          </a:prstGeom>
          <a:ln cap="flat" w="76200">
            <a:gradFill>
              <a:gsLst>
                <a:gs pos="0">
                  <a:srgbClr val="FF3131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flipV="true">
            <a:off x="13262879" y="1690440"/>
            <a:ext cx="0" cy="8170788"/>
          </a:xfrm>
          <a:prstGeom prst="line">
            <a:avLst/>
          </a:prstGeom>
          <a:ln cap="flat" w="76200">
            <a:gradFill>
              <a:gsLst>
                <a:gs pos="0">
                  <a:srgbClr val="FF3131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732157" y="7420501"/>
            <a:ext cx="2620348" cy="479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8"/>
              </a:lnSpc>
              <a:spcBef>
                <a:spcPct val="0"/>
              </a:spcBef>
            </a:pPr>
            <a:r>
              <a:rPr lang="en-US" b="true" sz="27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Psychographic</a:t>
            </a:r>
          </a:p>
        </p:txBody>
      </p:sp>
      <p:sp>
        <p:nvSpPr>
          <p:cNvPr name="AutoShape 11" id="11"/>
          <p:cNvSpPr/>
          <p:nvPr/>
        </p:nvSpPr>
        <p:spPr>
          <a:xfrm flipV="true">
            <a:off x="3352505" y="1629451"/>
            <a:ext cx="0" cy="8255589"/>
          </a:xfrm>
          <a:prstGeom prst="line">
            <a:avLst/>
          </a:prstGeom>
          <a:ln cap="flat" w="76200">
            <a:gradFill>
              <a:gsLst>
                <a:gs pos="0">
                  <a:srgbClr val="FF3131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0" y="10557"/>
            <a:ext cx="18288000" cy="1443110"/>
            <a:chOff x="0" y="0"/>
            <a:chExt cx="24384000" cy="1924147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24384000" cy="1924147"/>
              <a:chOff x="0" y="0"/>
              <a:chExt cx="3199138" cy="252445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3199138" cy="252445"/>
              </a:xfrm>
              <a:custGeom>
                <a:avLst/>
                <a:gdLst/>
                <a:ahLst/>
                <a:cxnLst/>
                <a:rect r="r" b="b" t="t" l="l"/>
                <a:pathLst>
                  <a:path h="252445" w="3199138">
                    <a:moveTo>
                      <a:pt x="0" y="0"/>
                    </a:moveTo>
                    <a:lnTo>
                      <a:pt x="3199138" y="0"/>
                    </a:lnTo>
                    <a:lnTo>
                      <a:pt x="3199138" y="252445"/>
                    </a:lnTo>
                    <a:lnTo>
                      <a:pt x="0" y="252445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F3131">
                      <a:alpha val="100000"/>
                    </a:srgbClr>
                  </a:gs>
                  <a:gs pos="100000">
                    <a:srgbClr val="FF914D">
                      <a:alpha val="100000"/>
                    </a:srgbClr>
                  </a:gs>
                </a:gsLst>
                <a:lin ang="2700000"/>
              </a:gradFill>
            </p:spPr>
          </p:sp>
        </p:grp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37909" cy="1924147"/>
            </a:xfrm>
            <a:custGeom>
              <a:avLst/>
              <a:gdLst/>
              <a:ahLst/>
              <a:cxnLst/>
              <a:rect r="r" b="b" t="t" l="l"/>
              <a:pathLst>
                <a:path h="1924147" w="2537909">
                  <a:moveTo>
                    <a:pt x="0" y="0"/>
                  </a:moveTo>
                  <a:lnTo>
                    <a:pt x="2537909" y="0"/>
                  </a:lnTo>
                  <a:lnTo>
                    <a:pt x="2537909" y="1924147"/>
                  </a:lnTo>
                  <a:lnTo>
                    <a:pt x="0" y="19241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5948" r="0" b="-15948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 rot="0">
              <a:off x="2717125" y="-253896"/>
              <a:ext cx="20451104" cy="20414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1703"/>
                </a:lnSpc>
              </a:pPr>
              <a:r>
                <a:rPr lang="en-US" sz="8127" b="true">
                  <a:solidFill>
                    <a:srgbClr val="FFFFFF"/>
                  </a:solidFill>
                  <a:latin typeface="Heading Now 31-38 Bold"/>
                  <a:ea typeface="Heading Now 31-38 Bold"/>
                  <a:cs typeface="Heading Now 31-38 Bold"/>
                  <a:sym typeface="Heading Now 31-38 Bold"/>
                </a:rPr>
                <a:t>TARGET AUDIENCE 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>
            <a:off x="595680" y="2409739"/>
            <a:ext cx="17004247" cy="0"/>
          </a:xfrm>
          <a:prstGeom prst="line">
            <a:avLst/>
          </a:prstGeom>
          <a:ln cap="flat" w="76200">
            <a:gradFill>
              <a:gsLst>
                <a:gs pos="0">
                  <a:srgbClr val="FF3131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TextBox 18" id="18"/>
          <p:cNvSpPr txBox="true"/>
          <p:nvPr/>
        </p:nvSpPr>
        <p:spPr>
          <a:xfrm rot="0">
            <a:off x="774662" y="3134591"/>
            <a:ext cx="2463543" cy="537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Demographic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32157" y="5445778"/>
            <a:ext cx="2506048" cy="537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Geographic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74662" y="8946832"/>
            <a:ext cx="2511168" cy="537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Behavioral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466805" y="2467122"/>
            <a:ext cx="4906363" cy="2520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31801" indent="-215900" lvl="1">
              <a:lnSpc>
                <a:spcPts val="2880"/>
              </a:lnSpc>
              <a:buFont typeface="Arial"/>
              <a:buChar char="•"/>
            </a:pPr>
            <a:r>
              <a:rPr lang="en-US" b="true" sz="20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Ages 18-29.</a:t>
            </a:r>
          </a:p>
          <a:p>
            <a:pPr algn="just" marL="431801" indent="-215900" lvl="1">
              <a:lnSpc>
                <a:spcPts val="2880"/>
              </a:lnSpc>
              <a:buFont typeface="Arial"/>
              <a:buChar char="•"/>
            </a:pPr>
            <a:r>
              <a:rPr lang="en-US" b="true" sz="20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Major metropolitan cities.</a:t>
            </a:r>
          </a:p>
          <a:p>
            <a:pPr algn="just" marL="431801" indent="-215900" lvl="1">
              <a:lnSpc>
                <a:spcPts val="2880"/>
              </a:lnSpc>
              <a:buFont typeface="Arial"/>
              <a:buChar char="•"/>
            </a:pPr>
            <a:r>
              <a:rPr lang="en-US" b="true" sz="20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Mid-level income. </a:t>
            </a:r>
          </a:p>
          <a:p>
            <a:pPr algn="l" marL="431801" indent="-215900" lvl="1">
              <a:lnSpc>
                <a:spcPts val="2880"/>
              </a:lnSpc>
              <a:buFont typeface="Arial"/>
              <a:buChar char="•"/>
            </a:pPr>
            <a:r>
              <a:rPr lang="en-US" b="true" sz="20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Commuters to work by car from within the city.</a:t>
            </a:r>
          </a:p>
          <a:p>
            <a:pPr algn="just" marL="431801" indent="-215900" lvl="1">
              <a:lnSpc>
                <a:spcPts val="2880"/>
              </a:lnSpc>
              <a:buFont typeface="Arial"/>
              <a:buChar char="•"/>
            </a:pPr>
            <a:r>
              <a:rPr lang="en-US" b="true" sz="20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Frequent phone users. </a:t>
            </a:r>
          </a:p>
          <a:p>
            <a:pPr algn="just">
              <a:lnSpc>
                <a:spcPts val="2880"/>
              </a:lnSpc>
              <a:spcBef>
                <a:spcPct val="0"/>
              </a:spcBef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3466805" y="4796704"/>
            <a:ext cx="4906363" cy="1072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80"/>
              </a:lnSpc>
              <a:buFont typeface="Arial"/>
              <a:buChar char="•"/>
            </a:pPr>
            <a:r>
              <a:rPr lang="en-US" b="true" sz="20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People who work in metropolitan or city areas with limited parking and parking garages.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466805" y="6910983"/>
            <a:ext cx="4906363" cy="1434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80"/>
              </a:lnSpc>
              <a:buFont typeface="Arial"/>
              <a:buChar char="•"/>
            </a:pPr>
            <a:r>
              <a:rPr lang="en-US" b="true" sz="20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Value convenience and saving time.</a:t>
            </a:r>
          </a:p>
          <a:p>
            <a:pPr algn="l" marL="431801" indent="-215900" lvl="1">
              <a:lnSpc>
                <a:spcPts val="2880"/>
              </a:lnSpc>
              <a:buFont typeface="Arial"/>
              <a:buChar char="•"/>
            </a:pPr>
            <a:r>
              <a:rPr lang="en-US" b="true" sz="20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Frustrated by searching for cheap and open parking garages.</a:t>
            </a:r>
          </a:p>
          <a:p>
            <a:pPr algn="l" marL="431801" indent="-215900" lvl="1">
              <a:lnSpc>
                <a:spcPts val="2880"/>
              </a:lnSpc>
              <a:buFont typeface="Arial"/>
              <a:buChar char="•"/>
            </a:pPr>
            <a:r>
              <a:rPr lang="en-US" b="true" sz="20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Prefer digital apps.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419180" y="8658220"/>
            <a:ext cx="5143347" cy="1027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11" indent="-205106" lvl="1">
              <a:lnSpc>
                <a:spcPts val="2736"/>
              </a:lnSpc>
              <a:buFont typeface="Arial"/>
              <a:buChar char="•"/>
            </a:pPr>
            <a:r>
              <a:rPr lang="en-US" b="true" sz="19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People who work in metropolitan or city areas with limited parking and parking garages.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579966" y="1787375"/>
            <a:ext cx="4982562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b="true" sz="25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Interns &amp; Young Professionals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912411" y="1784137"/>
            <a:ext cx="4096959" cy="463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4"/>
              </a:lnSpc>
              <a:spcBef>
                <a:spcPct val="0"/>
              </a:spcBef>
            </a:pPr>
            <a:r>
              <a:rPr lang="en-US" b="true" sz="26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Event Goers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215254" y="1784137"/>
            <a:ext cx="4274388" cy="463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4"/>
              </a:lnSpc>
              <a:spcBef>
                <a:spcPct val="0"/>
              </a:spcBef>
            </a:pPr>
            <a:r>
              <a:rPr lang="en-US" b="true" sz="26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Full Time Employees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858931" y="2524039"/>
            <a:ext cx="4150439" cy="2520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799" indent="-215899" lvl="1">
              <a:lnSpc>
                <a:spcPts val="2879"/>
              </a:lnSpc>
              <a:buFont typeface="Arial"/>
              <a:buChar char="•"/>
            </a:pPr>
            <a:r>
              <a:rPr lang="en-US" b="true" sz="1999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Very wide age range.</a:t>
            </a:r>
            <a:r>
              <a:rPr lang="en-US" b="true" sz="1999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</a:p>
          <a:p>
            <a:pPr algn="l" marL="431799" indent="-215899" lvl="1">
              <a:lnSpc>
                <a:spcPts val="2879"/>
              </a:lnSpc>
              <a:buFont typeface="Arial"/>
              <a:buChar char="•"/>
            </a:pPr>
            <a:r>
              <a:rPr lang="en-US" b="true" sz="1999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Tourists, concert attendees, sports events, celebrations/parties.</a:t>
            </a:r>
          </a:p>
          <a:p>
            <a:pPr algn="l" marL="431799" indent="-215899" lvl="1">
              <a:lnSpc>
                <a:spcPts val="2879"/>
              </a:lnSpc>
              <a:buFont typeface="Arial"/>
              <a:buChar char="•"/>
            </a:pPr>
            <a:r>
              <a:rPr lang="en-US" sz="19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US" b="true" sz="1999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id-level and high-level income.</a:t>
            </a:r>
          </a:p>
          <a:p>
            <a:pPr algn="l">
              <a:lnSpc>
                <a:spcPts val="2879"/>
              </a:lnSpc>
              <a:spcBef>
                <a:spcPct val="0"/>
              </a:spcBef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13262879" y="2524039"/>
            <a:ext cx="4226763" cy="1796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31799" indent="-215899" lvl="1">
              <a:lnSpc>
                <a:spcPts val="2879"/>
              </a:lnSpc>
              <a:buFont typeface="Arial"/>
              <a:buChar char="•"/>
            </a:pPr>
            <a:r>
              <a:rPr lang="en-US" b="true" sz="1999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Full-time employee in the city</a:t>
            </a:r>
            <a:r>
              <a:rPr lang="en-US" b="true" sz="1999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</a:p>
          <a:p>
            <a:pPr algn="l" marL="431799" indent="-215899" lvl="1">
              <a:lnSpc>
                <a:spcPts val="2879"/>
              </a:lnSpc>
              <a:buFont typeface="Arial"/>
              <a:buChar char="•"/>
            </a:pPr>
            <a:r>
              <a:rPr lang="en-US" b="true" sz="1999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Commuting to my car from outside areas. </a:t>
            </a:r>
          </a:p>
          <a:p>
            <a:pPr algn="just" marL="431799" indent="-215899" lvl="1">
              <a:lnSpc>
                <a:spcPts val="2879"/>
              </a:lnSpc>
              <a:buFont typeface="Arial"/>
              <a:buChar char="•"/>
            </a:pPr>
            <a:r>
              <a:rPr lang="en-US" b="true" sz="1999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Middle or upper class.</a:t>
            </a:r>
          </a:p>
          <a:p>
            <a:pPr algn="l">
              <a:lnSpc>
                <a:spcPts val="2879"/>
              </a:lnSpc>
              <a:spcBef>
                <a:spcPct val="0"/>
              </a:spcBef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8811302" y="4846467"/>
            <a:ext cx="4150439" cy="710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80"/>
              </a:lnSpc>
              <a:buFont typeface="Arial"/>
              <a:buChar char="•"/>
            </a:pPr>
            <a:r>
              <a:rPr lang="en-US" b="true" sz="20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Travels into the city mainly for special occasions/ events.</a:t>
            </a:r>
            <a:r>
              <a:rPr lang="en-US" b="true" sz="20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295116" y="4787179"/>
            <a:ext cx="4285761" cy="1760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9603" indent="-209801" lvl="1">
              <a:lnSpc>
                <a:spcPts val="2798"/>
              </a:lnSpc>
              <a:buFont typeface="Arial"/>
              <a:buChar char="•"/>
            </a:pPr>
            <a:r>
              <a:rPr lang="en-US" b="true" sz="1943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Live in the suburbs but drive to the city for work.</a:t>
            </a:r>
          </a:p>
          <a:p>
            <a:pPr algn="l" marL="419603" indent="-209801" lvl="1">
              <a:lnSpc>
                <a:spcPts val="2798"/>
              </a:lnSpc>
              <a:buFont typeface="Arial"/>
              <a:buChar char="•"/>
            </a:pPr>
            <a:r>
              <a:rPr lang="en-US" b="true" sz="1943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Parks in garages every day. </a:t>
            </a:r>
          </a:p>
          <a:p>
            <a:pPr algn="l" marL="419603" indent="-209801" lvl="1">
              <a:lnSpc>
                <a:spcPts val="2798"/>
              </a:lnSpc>
              <a:buFont typeface="Arial"/>
              <a:buChar char="•"/>
            </a:pPr>
            <a:r>
              <a:rPr lang="en-US" b="true" sz="1943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Faces congestion due to commuting.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811302" y="6859098"/>
            <a:ext cx="4198068" cy="1621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2" indent="-194311" lvl="1">
              <a:lnSpc>
                <a:spcPts val="2592"/>
              </a:lnSpc>
              <a:buFont typeface="Arial"/>
              <a:buChar char="•"/>
            </a:pPr>
            <a:r>
              <a:rPr lang="en-US" b="true" sz="18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Good parking without the hassle of driving around crowded parking lots.</a:t>
            </a:r>
          </a:p>
          <a:p>
            <a:pPr algn="l" marL="388622" indent="-194311" lvl="1">
              <a:lnSpc>
                <a:spcPts val="2592"/>
              </a:lnSpc>
              <a:buFont typeface="Arial"/>
              <a:buChar char="•"/>
            </a:pPr>
            <a:r>
              <a:rPr lang="en-US" b="true" sz="18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Wants decent prices and proximity to venues.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262879" y="6882408"/>
            <a:ext cx="4337048" cy="1434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80"/>
              </a:lnSpc>
              <a:buFont typeface="Arial"/>
              <a:buChar char="•"/>
            </a:pPr>
            <a:r>
              <a:rPr lang="en-US" b="true" sz="20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Values routine and predictability/planning ahead.</a:t>
            </a:r>
          </a:p>
          <a:p>
            <a:pPr algn="l" marL="431801" indent="-215900" lvl="1">
              <a:lnSpc>
                <a:spcPts val="2880"/>
              </a:lnSpc>
              <a:buFont typeface="Arial"/>
              <a:buChar char="•"/>
            </a:pPr>
            <a:r>
              <a:rPr lang="en-US" b="true" sz="20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Will pay for reliable and guaranteed parking. 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715490" y="8686795"/>
            <a:ext cx="4293880" cy="710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80"/>
              </a:lnSpc>
              <a:buFont typeface="Arial"/>
              <a:buChar char="•"/>
            </a:pPr>
            <a:r>
              <a:rPr lang="en-US" b="true" sz="20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Oftentimes, they plan the parking before going to events.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263394" y="8677270"/>
            <a:ext cx="4226248" cy="1027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11" indent="-205106" lvl="1">
              <a:lnSpc>
                <a:spcPts val="2736"/>
              </a:lnSpc>
              <a:buFont typeface="Arial"/>
              <a:buChar char="•"/>
            </a:pPr>
            <a:r>
              <a:rPr lang="en-US" b="true" sz="19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Daily parking customers → high lifetime value.</a:t>
            </a:r>
          </a:p>
          <a:p>
            <a:pPr algn="l" marL="410211" indent="-205106" lvl="1">
              <a:lnSpc>
                <a:spcPts val="2736"/>
              </a:lnSpc>
              <a:buFont typeface="Arial"/>
              <a:buChar char="•"/>
            </a:pPr>
            <a:r>
              <a:rPr lang="en-US" b="true" sz="19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Usually parks in a similar area.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10557"/>
            <a:ext cx="18620738" cy="1629451"/>
            <a:chOff x="0" y="0"/>
            <a:chExt cx="24827651" cy="2172602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24827651" cy="2172602"/>
              <a:chOff x="0" y="0"/>
              <a:chExt cx="2884840" cy="252445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2884840" cy="252445"/>
              </a:xfrm>
              <a:custGeom>
                <a:avLst/>
                <a:gdLst/>
                <a:ahLst/>
                <a:cxnLst/>
                <a:rect r="r" b="b" t="t" l="l"/>
                <a:pathLst>
                  <a:path h="252445" w="2884840">
                    <a:moveTo>
                      <a:pt x="0" y="0"/>
                    </a:moveTo>
                    <a:lnTo>
                      <a:pt x="2884840" y="0"/>
                    </a:lnTo>
                    <a:lnTo>
                      <a:pt x="2884840" y="252445"/>
                    </a:lnTo>
                    <a:lnTo>
                      <a:pt x="0" y="252445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F3131">
                      <a:alpha val="100000"/>
                    </a:srgbClr>
                  </a:gs>
                  <a:gs pos="100000">
                    <a:srgbClr val="FF914D">
                      <a:alpha val="100000"/>
                    </a:srgbClr>
                  </a:gs>
                </a:gsLst>
                <a:lin ang="2700000"/>
              </a:gradFill>
            </p:spPr>
          </p:sp>
        </p:grp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84084" cy="2172602"/>
            </a:xfrm>
            <a:custGeom>
              <a:avLst/>
              <a:gdLst/>
              <a:ahLst/>
              <a:cxnLst/>
              <a:rect r="r" b="b" t="t" l="l"/>
              <a:pathLst>
                <a:path h="2172602" w="2584084">
                  <a:moveTo>
                    <a:pt x="0" y="0"/>
                  </a:moveTo>
                  <a:lnTo>
                    <a:pt x="2584084" y="0"/>
                  </a:lnTo>
                  <a:lnTo>
                    <a:pt x="2584084" y="2172602"/>
                  </a:lnTo>
                  <a:lnTo>
                    <a:pt x="0" y="21726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9469" r="0" b="-946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2766562" y="-176080"/>
              <a:ext cx="20823199" cy="21247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2239"/>
                </a:lnSpc>
              </a:pPr>
              <a:r>
                <a:rPr lang="en-US" sz="8499" b="true">
                  <a:solidFill>
                    <a:srgbClr val="FFFFFF"/>
                  </a:solidFill>
                  <a:latin typeface="Heading Now 31-38 Bold"/>
                  <a:ea typeface="Heading Now 31-38 Bold"/>
                  <a:cs typeface="Heading Now 31-38 Bold"/>
                  <a:sym typeface="Heading Now 31-38 Bold"/>
                </a:rPr>
                <a:t>TARGET AUDIENCE 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194051" y="2883335"/>
            <a:ext cx="15899899" cy="6876706"/>
          </a:xfrm>
          <a:custGeom>
            <a:avLst/>
            <a:gdLst/>
            <a:ahLst/>
            <a:cxnLst/>
            <a:rect r="r" b="b" t="t" l="l"/>
            <a:pathLst>
              <a:path h="6876706" w="15899899">
                <a:moveTo>
                  <a:pt x="0" y="0"/>
                </a:moveTo>
                <a:lnTo>
                  <a:pt x="15899898" y="0"/>
                </a:lnTo>
                <a:lnTo>
                  <a:pt x="15899898" y="6876706"/>
                </a:lnTo>
                <a:lnTo>
                  <a:pt x="0" y="68767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595680" y="1888414"/>
            <a:ext cx="17096641" cy="747270"/>
            <a:chOff x="0" y="0"/>
            <a:chExt cx="820839" cy="3587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20839" cy="35878"/>
            </a:xfrm>
            <a:custGeom>
              <a:avLst/>
              <a:gdLst/>
              <a:ahLst/>
              <a:cxnLst/>
              <a:rect r="r" b="b" t="t" l="l"/>
              <a:pathLst>
                <a:path h="35878" w="820839">
                  <a:moveTo>
                    <a:pt x="0" y="0"/>
                  </a:moveTo>
                  <a:lnTo>
                    <a:pt x="820839" y="0"/>
                  </a:lnTo>
                  <a:lnTo>
                    <a:pt x="820839" y="35878"/>
                  </a:lnTo>
                  <a:lnTo>
                    <a:pt x="0" y="35878"/>
                  </a:lnTo>
                  <a:close/>
                </a:path>
              </a:pathLst>
            </a:custGeom>
            <a:gradFill rotWithShape="true">
              <a:gsLst>
                <a:gs pos="0">
                  <a:srgbClr val="FF3131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915922" y="1950204"/>
            <a:ext cx="5757845" cy="537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b="true" sz="3000" u="sng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Interns &amp; Young Professionals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73767" y="1950204"/>
            <a:ext cx="5367677" cy="537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b="true" sz="3000" u="sng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Event-Goers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610764" y="2015219"/>
            <a:ext cx="4338796" cy="537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b="true" sz="3000" u="sng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Full-Time Professionals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95680" y="1905156"/>
            <a:ext cx="17096641" cy="7996626"/>
            <a:chOff x="0" y="0"/>
            <a:chExt cx="4482881" cy="209678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82881" cy="2096782"/>
            </a:xfrm>
            <a:custGeom>
              <a:avLst/>
              <a:gdLst/>
              <a:ahLst/>
              <a:cxnLst/>
              <a:rect r="r" b="b" t="t" l="l"/>
              <a:pathLst>
                <a:path h="2096782" w="4482881">
                  <a:moveTo>
                    <a:pt x="0" y="0"/>
                  </a:moveTo>
                  <a:lnTo>
                    <a:pt x="4482881" y="0"/>
                  </a:lnTo>
                  <a:lnTo>
                    <a:pt x="4482881" y="2096782"/>
                  </a:lnTo>
                  <a:lnTo>
                    <a:pt x="0" y="2096782"/>
                  </a:lnTo>
                  <a:close/>
                </a:path>
              </a:pathLst>
            </a:custGeom>
            <a:solidFill>
              <a:srgbClr val="363636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347641" y="1905156"/>
            <a:ext cx="7374787" cy="7996626"/>
            <a:chOff x="0" y="0"/>
            <a:chExt cx="1142547" cy="123888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42548" cy="1238887"/>
            </a:xfrm>
            <a:custGeom>
              <a:avLst/>
              <a:gdLst/>
              <a:ahLst/>
              <a:cxnLst/>
              <a:rect r="r" b="b" t="t" l="l"/>
              <a:pathLst>
                <a:path h="1238887" w="1142548">
                  <a:moveTo>
                    <a:pt x="0" y="0"/>
                  </a:moveTo>
                  <a:lnTo>
                    <a:pt x="1142548" y="0"/>
                  </a:lnTo>
                  <a:lnTo>
                    <a:pt x="1142548" y="1238887"/>
                  </a:lnTo>
                  <a:lnTo>
                    <a:pt x="0" y="1238887"/>
                  </a:lnTo>
                  <a:close/>
                </a:path>
              </a:pathLst>
            </a:custGeom>
            <a:gradFill rotWithShape="true">
              <a:gsLst>
                <a:gs pos="0">
                  <a:srgbClr val="FF3131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7" id="7"/>
          <p:cNvGrpSpPr/>
          <p:nvPr/>
        </p:nvGrpSpPr>
        <p:grpSpPr>
          <a:xfrm rot="0">
            <a:off x="0" y="0"/>
            <a:ext cx="18620738" cy="1629451"/>
            <a:chOff x="0" y="0"/>
            <a:chExt cx="24827651" cy="2172602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24827651" cy="2172602"/>
              <a:chOff x="0" y="0"/>
              <a:chExt cx="2884840" cy="252445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2884840" cy="252445"/>
              </a:xfrm>
              <a:custGeom>
                <a:avLst/>
                <a:gdLst/>
                <a:ahLst/>
                <a:cxnLst/>
                <a:rect r="r" b="b" t="t" l="l"/>
                <a:pathLst>
                  <a:path h="252445" w="2884840">
                    <a:moveTo>
                      <a:pt x="0" y="0"/>
                    </a:moveTo>
                    <a:lnTo>
                      <a:pt x="2884840" y="0"/>
                    </a:lnTo>
                    <a:lnTo>
                      <a:pt x="2884840" y="252445"/>
                    </a:lnTo>
                    <a:lnTo>
                      <a:pt x="0" y="252445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F3131">
                      <a:alpha val="100000"/>
                    </a:srgbClr>
                  </a:gs>
                  <a:gs pos="100000">
                    <a:srgbClr val="FF914D">
                      <a:alpha val="100000"/>
                    </a:srgbClr>
                  </a:gs>
                </a:gsLst>
                <a:lin ang="2700000"/>
              </a:gradFill>
            </p:spPr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584084" cy="2172602"/>
            </a:xfrm>
            <a:custGeom>
              <a:avLst/>
              <a:gdLst/>
              <a:ahLst/>
              <a:cxnLst/>
              <a:rect r="r" b="b" t="t" l="l"/>
              <a:pathLst>
                <a:path h="2172602" w="2584084">
                  <a:moveTo>
                    <a:pt x="0" y="0"/>
                  </a:moveTo>
                  <a:lnTo>
                    <a:pt x="2584084" y="0"/>
                  </a:lnTo>
                  <a:lnTo>
                    <a:pt x="2584084" y="2172602"/>
                  </a:lnTo>
                  <a:lnTo>
                    <a:pt x="0" y="21726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9469" r="0" b="-9469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2766562" y="-176080"/>
              <a:ext cx="20823199" cy="21247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2239"/>
                </a:lnSpc>
              </a:pPr>
              <a:r>
                <a:rPr lang="en-US" sz="8499" b="true">
                  <a:solidFill>
                    <a:srgbClr val="FFFFFF"/>
                  </a:solidFill>
                  <a:latin typeface="Heading Now 31-38 Bold"/>
                  <a:ea typeface="Heading Now 31-38 Bold"/>
                  <a:cs typeface="Heading Now 31-38 Bold"/>
                  <a:sym typeface="Heading Now 31-38 Bold"/>
                </a:rPr>
                <a:t>MARKETING GOALS &amp; OBJECTIVES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595680" y="2032728"/>
            <a:ext cx="9223774" cy="8709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8241" indent="-344121" lvl="1">
              <a:lnSpc>
                <a:spcPts val="4112"/>
              </a:lnSpc>
              <a:buFont typeface="Arial"/>
              <a:buChar char="•"/>
            </a:pPr>
            <a:r>
              <a:rPr lang="en-US" b="true" sz="3187" spc="-175" u="sng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User Acquisition​</a:t>
            </a:r>
          </a:p>
          <a:p>
            <a:pPr algn="l" marL="1376482" indent="-458827" lvl="2">
              <a:lnSpc>
                <a:spcPts val="4112"/>
              </a:lnSpc>
              <a:spcBef>
                <a:spcPct val="0"/>
              </a:spcBef>
              <a:buFont typeface="Arial"/>
              <a:buChar char="⚬"/>
            </a:pPr>
            <a:r>
              <a:rPr lang="en-US" sz="3187" spc="-1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25,000 N</a:t>
            </a:r>
            <a:r>
              <a:rPr lang="en-US" sz="3187" spc="-1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YC users by Month 6​</a:t>
            </a:r>
          </a:p>
          <a:p>
            <a:pPr algn="l" marL="1376482" indent="-458827" lvl="2">
              <a:lnSpc>
                <a:spcPts val="4112"/>
              </a:lnSpc>
              <a:spcBef>
                <a:spcPct val="0"/>
              </a:spcBef>
              <a:buFont typeface="Arial"/>
              <a:buChar char="⚬"/>
            </a:pPr>
            <a:r>
              <a:rPr lang="en-US" sz="3187" spc="-1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25,000+ app downloads (iOS + Android)​</a:t>
            </a:r>
          </a:p>
          <a:p>
            <a:pPr algn="l" marL="1376482" indent="-458827" lvl="2">
              <a:lnSpc>
                <a:spcPts val="4112"/>
              </a:lnSpc>
              <a:spcBef>
                <a:spcPct val="0"/>
              </a:spcBef>
              <a:buFont typeface="Arial"/>
              <a:buChar char="⚬"/>
            </a:pPr>
            <a:r>
              <a:rPr lang="en-US" sz="3187" spc="-1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4.5+ star rating maintained across platforms​</a:t>
            </a:r>
          </a:p>
          <a:p>
            <a:pPr algn="l" marL="688241" indent="-344121" lvl="1">
              <a:lnSpc>
                <a:spcPts val="411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187" spc="-175" u="sng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Revenue Breakdown​</a:t>
            </a:r>
          </a:p>
          <a:p>
            <a:pPr algn="l" marL="1376482" indent="-458827" lvl="2">
              <a:lnSpc>
                <a:spcPts val="4112"/>
              </a:lnSpc>
              <a:spcBef>
                <a:spcPct val="0"/>
              </a:spcBef>
              <a:buFont typeface="Arial"/>
              <a:buChar char="⚬"/>
            </a:pPr>
            <a:r>
              <a:rPr lang="en-US" sz="3187" spc="-1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$500K Parking Facility Subscriptions EOY1 (83%)​</a:t>
            </a:r>
          </a:p>
          <a:p>
            <a:pPr algn="l" marL="1376482" indent="-458827" lvl="2">
              <a:lnSpc>
                <a:spcPts val="4112"/>
              </a:lnSpc>
              <a:spcBef>
                <a:spcPct val="0"/>
              </a:spcBef>
              <a:buFont typeface="Arial"/>
              <a:buChar char="⚬"/>
            </a:pPr>
            <a:r>
              <a:rPr lang="en-US" sz="3187" spc="-1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50 garages × $10,000/year​</a:t>
            </a:r>
          </a:p>
          <a:p>
            <a:pPr algn="l" marL="1376482" indent="-458827" lvl="2">
              <a:lnSpc>
                <a:spcPts val="4112"/>
              </a:lnSpc>
              <a:spcBef>
                <a:spcPct val="0"/>
              </a:spcBef>
              <a:buFont typeface="Arial"/>
              <a:buChar char="⚬"/>
            </a:pPr>
            <a:r>
              <a:rPr lang="en-US" sz="3187" spc="-1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$100K In-App Advertising EOY1 (17%)​</a:t>
            </a:r>
          </a:p>
          <a:p>
            <a:pPr algn="l" marL="688241" indent="-344121" lvl="1">
              <a:lnSpc>
                <a:spcPts val="411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187" spc="-175" u="sng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Brand &amp; Social Growth​</a:t>
            </a:r>
          </a:p>
          <a:p>
            <a:pPr algn="l" marL="1376482" indent="-458827" lvl="2">
              <a:lnSpc>
                <a:spcPts val="4112"/>
              </a:lnSpc>
              <a:spcBef>
                <a:spcPct val="0"/>
              </a:spcBef>
              <a:buFont typeface="Arial"/>
              <a:buChar char="⚬"/>
            </a:pPr>
            <a:r>
              <a:rPr lang="en-US" sz="3187" spc="-1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10,000+ combined followers across Instagram, TikTok, LinkedIn by EOY 1​</a:t>
            </a:r>
          </a:p>
          <a:p>
            <a:pPr algn="l" marL="1376482" indent="-458827" lvl="2">
              <a:lnSpc>
                <a:spcPts val="4112"/>
              </a:lnSpc>
              <a:spcBef>
                <a:spcPct val="0"/>
              </a:spcBef>
              <a:buFont typeface="Arial"/>
              <a:buChar char="⚬"/>
            </a:pPr>
            <a:r>
              <a:rPr lang="en-US" sz="3187" spc="-1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Target: 15% aided brand awareness in ages 18-45 demographic​</a:t>
            </a:r>
          </a:p>
          <a:p>
            <a:pPr algn="l" marL="1376482" indent="-458827" lvl="2">
              <a:lnSpc>
                <a:spcPts val="4112"/>
              </a:lnSpc>
              <a:spcBef>
                <a:spcPct val="0"/>
              </a:spcBef>
              <a:buFont typeface="Arial"/>
              <a:buChar char="⚬"/>
            </a:pPr>
            <a:r>
              <a:rPr lang="en-US" sz="3187" spc="-1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Launch cities: Focus on NYC market penetration​</a:t>
            </a:r>
          </a:p>
          <a:p>
            <a:pPr algn="l">
              <a:lnSpc>
                <a:spcPts val="4112"/>
              </a:lnSpc>
              <a:spcBef>
                <a:spcPct val="0"/>
              </a:spcBef>
            </a:pPr>
          </a:p>
          <a:p>
            <a:pPr algn="l">
              <a:lnSpc>
                <a:spcPts val="3655"/>
              </a:lnSpc>
              <a:spcBef>
                <a:spcPct val="0"/>
              </a:spcBef>
            </a:pP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0901203" y="2237070"/>
            <a:ext cx="6267664" cy="3666399"/>
          </a:xfrm>
          <a:custGeom>
            <a:avLst/>
            <a:gdLst/>
            <a:ahLst/>
            <a:cxnLst/>
            <a:rect r="r" b="b" t="t" l="l"/>
            <a:pathLst>
              <a:path h="3666399" w="6267664">
                <a:moveTo>
                  <a:pt x="0" y="0"/>
                </a:moveTo>
                <a:lnTo>
                  <a:pt x="6267663" y="0"/>
                </a:lnTo>
                <a:lnTo>
                  <a:pt x="6267663" y="3666399"/>
                </a:lnTo>
                <a:lnTo>
                  <a:pt x="0" y="36663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994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901203" y="6259415"/>
            <a:ext cx="6267664" cy="3306251"/>
          </a:xfrm>
          <a:custGeom>
            <a:avLst/>
            <a:gdLst/>
            <a:ahLst/>
            <a:cxnLst/>
            <a:rect r="r" b="b" t="t" l="l"/>
            <a:pathLst>
              <a:path h="3306251" w="6267664">
                <a:moveTo>
                  <a:pt x="0" y="0"/>
                </a:moveTo>
                <a:lnTo>
                  <a:pt x="6267663" y="0"/>
                </a:lnTo>
                <a:lnTo>
                  <a:pt x="6267663" y="3306251"/>
                </a:lnTo>
                <a:lnTo>
                  <a:pt x="0" y="33062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0502" t="-7372" r="0" b="-3228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95680" y="1888414"/>
            <a:ext cx="17096641" cy="7996626"/>
            <a:chOff x="0" y="0"/>
            <a:chExt cx="4482881" cy="209678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82881" cy="2096782"/>
            </a:xfrm>
            <a:custGeom>
              <a:avLst/>
              <a:gdLst/>
              <a:ahLst/>
              <a:cxnLst/>
              <a:rect r="r" b="b" t="t" l="l"/>
              <a:pathLst>
                <a:path h="2096782" w="4482881">
                  <a:moveTo>
                    <a:pt x="0" y="0"/>
                  </a:moveTo>
                  <a:lnTo>
                    <a:pt x="4482881" y="0"/>
                  </a:lnTo>
                  <a:lnTo>
                    <a:pt x="4482881" y="2096782"/>
                  </a:lnTo>
                  <a:lnTo>
                    <a:pt x="0" y="2096782"/>
                  </a:lnTo>
                  <a:close/>
                </a:path>
              </a:pathLst>
            </a:custGeom>
            <a:solidFill>
              <a:srgbClr val="363636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620738" cy="1629451"/>
            <a:chOff x="0" y="0"/>
            <a:chExt cx="24827651" cy="2172602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24827651" cy="2172602"/>
              <a:chOff x="0" y="0"/>
              <a:chExt cx="2884840" cy="252445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884840" cy="252445"/>
              </a:xfrm>
              <a:custGeom>
                <a:avLst/>
                <a:gdLst/>
                <a:ahLst/>
                <a:cxnLst/>
                <a:rect r="r" b="b" t="t" l="l"/>
                <a:pathLst>
                  <a:path h="252445" w="2884840">
                    <a:moveTo>
                      <a:pt x="0" y="0"/>
                    </a:moveTo>
                    <a:lnTo>
                      <a:pt x="2884840" y="0"/>
                    </a:lnTo>
                    <a:lnTo>
                      <a:pt x="2884840" y="252445"/>
                    </a:lnTo>
                    <a:lnTo>
                      <a:pt x="0" y="252445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F3131">
                      <a:alpha val="100000"/>
                    </a:srgbClr>
                  </a:gs>
                  <a:gs pos="100000">
                    <a:srgbClr val="FF914D">
                      <a:alpha val="100000"/>
                    </a:srgbClr>
                  </a:gs>
                </a:gsLst>
                <a:lin ang="2700000"/>
              </a:gradFill>
            </p:spPr>
          </p:sp>
        </p:grp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584084" cy="2172602"/>
            </a:xfrm>
            <a:custGeom>
              <a:avLst/>
              <a:gdLst/>
              <a:ahLst/>
              <a:cxnLst/>
              <a:rect r="r" b="b" t="t" l="l"/>
              <a:pathLst>
                <a:path h="2172602" w="2584084">
                  <a:moveTo>
                    <a:pt x="0" y="0"/>
                  </a:moveTo>
                  <a:lnTo>
                    <a:pt x="2584084" y="0"/>
                  </a:lnTo>
                  <a:lnTo>
                    <a:pt x="2584084" y="2172602"/>
                  </a:lnTo>
                  <a:lnTo>
                    <a:pt x="0" y="21726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9469" r="0" b="-946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2766562" y="-176080"/>
              <a:ext cx="20823199" cy="21247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2239"/>
                </a:lnSpc>
              </a:pPr>
              <a:r>
                <a:rPr lang="en-US" sz="8499" b="true">
                  <a:solidFill>
                    <a:srgbClr val="FFFFFF"/>
                  </a:solidFill>
                  <a:latin typeface="Heading Now 31-38 Bold"/>
                  <a:ea typeface="Heading Now 31-38 Bold"/>
                  <a:cs typeface="Heading Now 31-38 Bold"/>
                  <a:sym typeface="Heading Now 31-38 Bold"/>
                </a:rPr>
                <a:t>MARKETING STRATEGY : PRODUCT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28700" y="2019300"/>
            <a:ext cx="7681232" cy="3535818"/>
            <a:chOff x="0" y="0"/>
            <a:chExt cx="1190024" cy="54779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90024" cy="547791"/>
            </a:xfrm>
            <a:custGeom>
              <a:avLst/>
              <a:gdLst/>
              <a:ahLst/>
              <a:cxnLst/>
              <a:rect r="r" b="b" t="t" l="l"/>
              <a:pathLst>
                <a:path h="547791" w="1190024">
                  <a:moveTo>
                    <a:pt x="0" y="0"/>
                  </a:moveTo>
                  <a:lnTo>
                    <a:pt x="1190024" y="0"/>
                  </a:lnTo>
                  <a:lnTo>
                    <a:pt x="1190024" y="547791"/>
                  </a:lnTo>
                  <a:lnTo>
                    <a:pt x="0" y="547791"/>
                  </a:lnTo>
                  <a:close/>
                </a:path>
              </a:pathLst>
            </a:custGeom>
            <a:solidFill>
              <a:srgbClr val="363636"/>
            </a:solidFill>
            <a:ln w="142875" cap="sq">
              <a:gradFill>
                <a:gsLst>
                  <a:gs pos="0">
                    <a:srgbClr val="FF3131">
                      <a:alpha val="100000"/>
                    </a:srgbClr>
                  </a:gs>
                  <a:gs pos="100000">
                    <a:srgbClr val="FF914D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406971" y="2393474"/>
            <a:ext cx="6975998" cy="2662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 u="sng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Product Positioning: Value Proposition</a:t>
            </a:r>
          </a:p>
          <a:p>
            <a:pPr algn="l">
              <a:lnSpc>
                <a:spcPts val="1960"/>
              </a:lnSpc>
            </a:pPr>
          </a:p>
          <a:p>
            <a:pPr algn="l">
              <a:lnSpc>
                <a:spcPts val="3780"/>
              </a:lnSpc>
            </a:pPr>
            <a:r>
              <a:rPr lang="en-US" sz="2700" i="true">
                <a:solidFill>
                  <a:srgbClr val="FFFFFF"/>
                </a:solidFill>
                <a:latin typeface="Arial Italics"/>
                <a:ea typeface="Arial Italics"/>
                <a:cs typeface="Arial Italics"/>
                <a:sym typeface="Arial Italics"/>
              </a:rPr>
              <a:t>A fast and convenient way to find available parking and parking prices, saving drivers time and helping parking garages and lots increase occupancy.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28700" y="5886727"/>
            <a:ext cx="7681232" cy="3744049"/>
            <a:chOff x="0" y="0"/>
            <a:chExt cx="1190024" cy="58005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90024" cy="580051"/>
            </a:xfrm>
            <a:custGeom>
              <a:avLst/>
              <a:gdLst/>
              <a:ahLst/>
              <a:cxnLst/>
              <a:rect r="r" b="b" t="t" l="l"/>
              <a:pathLst>
                <a:path h="580051" w="1190024">
                  <a:moveTo>
                    <a:pt x="0" y="0"/>
                  </a:moveTo>
                  <a:lnTo>
                    <a:pt x="1190024" y="0"/>
                  </a:lnTo>
                  <a:lnTo>
                    <a:pt x="1190024" y="580051"/>
                  </a:lnTo>
                  <a:lnTo>
                    <a:pt x="0" y="580051"/>
                  </a:lnTo>
                  <a:close/>
                </a:path>
              </a:pathLst>
            </a:custGeom>
            <a:solidFill>
              <a:srgbClr val="363636"/>
            </a:solidFill>
            <a:ln w="142875" cap="sq">
              <a:gradFill>
                <a:gsLst>
                  <a:gs pos="0">
                    <a:srgbClr val="FF3131">
                      <a:alpha val="100000"/>
                    </a:srgbClr>
                  </a:gs>
                  <a:gs pos="100000">
                    <a:srgbClr val="FF914D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406971" y="6143357"/>
            <a:ext cx="6975998" cy="3251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 u="sng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Product Positioning: Unique Selling Proposition</a:t>
            </a:r>
          </a:p>
          <a:p>
            <a:pPr algn="l">
              <a:lnSpc>
                <a:spcPts val="1960"/>
              </a:lnSpc>
            </a:pPr>
          </a:p>
          <a:p>
            <a:pPr algn="l">
              <a:lnSpc>
                <a:spcPts val="3920"/>
              </a:lnSpc>
            </a:pPr>
            <a:r>
              <a:rPr lang="en-US" sz="2800" i="true">
                <a:solidFill>
                  <a:srgbClr val="FFFFFF"/>
                </a:solidFill>
                <a:latin typeface="Arial Italics"/>
                <a:ea typeface="Arial Italics"/>
                <a:cs typeface="Arial Italics"/>
                <a:sym typeface="Arial Italics"/>
              </a:rPr>
              <a:t>Instantaneous access to parking garage deck availability and access to parking structure data using already existing parking scanners to track capacity in real time.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310369" y="2019300"/>
            <a:ext cx="7948931" cy="2072315"/>
            <a:chOff x="0" y="0"/>
            <a:chExt cx="1231497" cy="32105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31497" cy="321056"/>
            </a:xfrm>
            <a:custGeom>
              <a:avLst/>
              <a:gdLst/>
              <a:ahLst/>
              <a:cxnLst/>
              <a:rect r="r" b="b" t="t" l="l"/>
              <a:pathLst>
                <a:path h="321056" w="1231497">
                  <a:moveTo>
                    <a:pt x="0" y="0"/>
                  </a:moveTo>
                  <a:lnTo>
                    <a:pt x="1231497" y="0"/>
                  </a:lnTo>
                  <a:lnTo>
                    <a:pt x="1231497" y="321056"/>
                  </a:lnTo>
                  <a:lnTo>
                    <a:pt x="0" y="321056"/>
                  </a:lnTo>
                  <a:close/>
                </a:path>
              </a:pathLst>
            </a:custGeom>
            <a:solidFill>
              <a:srgbClr val="363636"/>
            </a:solidFill>
            <a:ln w="142875" cap="sq">
              <a:gradFill>
                <a:gsLst>
                  <a:gs pos="0">
                    <a:srgbClr val="FF3131">
                      <a:alpha val="100000"/>
                    </a:srgbClr>
                  </a:gs>
                  <a:gs pos="100000">
                    <a:srgbClr val="FF914D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9310369" y="4249316"/>
            <a:ext cx="7897815" cy="3274823"/>
            <a:chOff x="0" y="0"/>
            <a:chExt cx="1223578" cy="50735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23578" cy="507356"/>
            </a:xfrm>
            <a:custGeom>
              <a:avLst/>
              <a:gdLst/>
              <a:ahLst/>
              <a:cxnLst/>
              <a:rect r="r" b="b" t="t" l="l"/>
              <a:pathLst>
                <a:path h="507356" w="1223578">
                  <a:moveTo>
                    <a:pt x="0" y="0"/>
                  </a:moveTo>
                  <a:lnTo>
                    <a:pt x="1223578" y="0"/>
                  </a:lnTo>
                  <a:lnTo>
                    <a:pt x="1223578" y="507356"/>
                  </a:lnTo>
                  <a:lnTo>
                    <a:pt x="0" y="507356"/>
                  </a:lnTo>
                  <a:close/>
                </a:path>
              </a:pathLst>
            </a:custGeom>
            <a:solidFill>
              <a:srgbClr val="363636"/>
            </a:solidFill>
            <a:ln w="142875" cap="sq">
              <a:gradFill>
                <a:gsLst>
                  <a:gs pos="0">
                    <a:srgbClr val="FF3131">
                      <a:alpha val="100000"/>
                    </a:srgbClr>
                  </a:gs>
                  <a:gs pos="100000">
                    <a:srgbClr val="FF914D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9610068" y="4493259"/>
            <a:ext cx="7254921" cy="279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 u="sng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Customer Experience </a:t>
            </a:r>
          </a:p>
          <a:p>
            <a:pPr algn="l" marL="561342" indent="-280671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Stress-free and user-friendly customer </a:t>
            </a:r>
            <a:r>
              <a:rPr lang="en-US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experience.</a:t>
            </a:r>
          </a:p>
          <a:p>
            <a:pPr algn="l" marL="561342" indent="-280671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App should be easy to navigate.</a:t>
            </a:r>
          </a:p>
          <a:p>
            <a:pPr algn="l" marL="561342" indent="-280671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Businesses should be easily able to input data.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714014" y="2229454"/>
            <a:ext cx="7047029" cy="1353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 u="sng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Difference From Existing Competition:</a:t>
            </a:r>
          </a:p>
          <a:p>
            <a:pPr algn="l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Works with pre-installed occupancy scanners.</a:t>
            </a:r>
          </a:p>
          <a:p>
            <a:pPr algn="l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Presents real time data.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287646" y="7758752"/>
            <a:ext cx="7948931" cy="1872025"/>
            <a:chOff x="0" y="0"/>
            <a:chExt cx="1231497" cy="29002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31497" cy="290026"/>
            </a:xfrm>
            <a:custGeom>
              <a:avLst/>
              <a:gdLst/>
              <a:ahLst/>
              <a:cxnLst/>
              <a:rect r="r" b="b" t="t" l="l"/>
              <a:pathLst>
                <a:path h="290026" w="1231497">
                  <a:moveTo>
                    <a:pt x="0" y="0"/>
                  </a:moveTo>
                  <a:lnTo>
                    <a:pt x="1231497" y="0"/>
                  </a:lnTo>
                  <a:lnTo>
                    <a:pt x="1231497" y="290026"/>
                  </a:lnTo>
                  <a:lnTo>
                    <a:pt x="0" y="290026"/>
                  </a:lnTo>
                  <a:close/>
                </a:path>
              </a:pathLst>
            </a:custGeom>
            <a:solidFill>
              <a:srgbClr val="363636"/>
            </a:solidFill>
            <a:ln w="142875" cap="sq">
              <a:gradFill>
                <a:gsLst>
                  <a:gs pos="0">
                    <a:srgbClr val="FF3131">
                      <a:alpha val="100000"/>
                    </a:srgbClr>
                  </a:gs>
                  <a:gs pos="100000">
                    <a:srgbClr val="FF914D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9714014" y="7893394"/>
            <a:ext cx="7047029" cy="1536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 u="sng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Sustain Customer Loyalty</a:t>
            </a:r>
          </a:p>
          <a:p>
            <a:pPr algn="l" marL="626111" indent="-313055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Usable customer interface.</a:t>
            </a:r>
          </a:p>
          <a:p>
            <a:pPr algn="l" marL="626111" indent="-313055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Personalized app notifications.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95680" y="1888414"/>
            <a:ext cx="17096641" cy="7996626"/>
            <a:chOff x="0" y="0"/>
            <a:chExt cx="4482881" cy="209678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82881" cy="2096782"/>
            </a:xfrm>
            <a:custGeom>
              <a:avLst/>
              <a:gdLst/>
              <a:ahLst/>
              <a:cxnLst/>
              <a:rect r="r" b="b" t="t" l="l"/>
              <a:pathLst>
                <a:path h="2096782" w="4482881">
                  <a:moveTo>
                    <a:pt x="0" y="0"/>
                  </a:moveTo>
                  <a:lnTo>
                    <a:pt x="4482881" y="0"/>
                  </a:lnTo>
                  <a:lnTo>
                    <a:pt x="4482881" y="2096782"/>
                  </a:lnTo>
                  <a:lnTo>
                    <a:pt x="0" y="2096782"/>
                  </a:lnTo>
                  <a:close/>
                </a:path>
              </a:pathLst>
            </a:custGeom>
            <a:solidFill>
              <a:srgbClr val="363636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66369" y="0"/>
            <a:ext cx="18620738" cy="1629451"/>
            <a:chOff x="0" y="0"/>
            <a:chExt cx="24827651" cy="2172602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24827651" cy="2172602"/>
              <a:chOff x="0" y="0"/>
              <a:chExt cx="2884840" cy="252445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884840" cy="252445"/>
              </a:xfrm>
              <a:custGeom>
                <a:avLst/>
                <a:gdLst/>
                <a:ahLst/>
                <a:cxnLst/>
                <a:rect r="r" b="b" t="t" l="l"/>
                <a:pathLst>
                  <a:path h="252445" w="2884840">
                    <a:moveTo>
                      <a:pt x="0" y="0"/>
                    </a:moveTo>
                    <a:lnTo>
                      <a:pt x="2884840" y="0"/>
                    </a:lnTo>
                    <a:lnTo>
                      <a:pt x="2884840" y="252445"/>
                    </a:lnTo>
                    <a:lnTo>
                      <a:pt x="0" y="252445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F3131">
                      <a:alpha val="100000"/>
                    </a:srgbClr>
                  </a:gs>
                  <a:gs pos="100000">
                    <a:srgbClr val="FF914D">
                      <a:alpha val="100000"/>
                    </a:srgbClr>
                  </a:gs>
                </a:gsLst>
                <a:lin ang="2700000"/>
              </a:gradFill>
            </p:spPr>
          </p:sp>
        </p:grp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584084" cy="2172602"/>
            </a:xfrm>
            <a:custGeom>
              <a:avLst/>
              <a:gdLst/>
              <a:ahLst/>
              <a:cxnLst/>
              <a:rect r="r" b="b" t="t" l="l"/>
              <a:pathLst>
                <a:path h="2172602" w="2584084">
                  <a:moveTo>
                    <a:pt x="0" y="0"/>
                  </a:moveTo>
                  <a:lnTo>
                    <a:pt x="2584084" y="0"/>
                  </a:lnTo>
                  <a:lnTo>
                    <a:pt x="2584084" y="2172602"/>
                  </a:lnTo>
                  <a:lnTo>
                    <a:pt x="0" y="21726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9469" r="0" b="-946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2766562" y="-176080"/>
              <a:ext cx="20823199" cy="21247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2239"/>
                </a:lnSpc>
              </a:pPr>
              <a:r>
                <a:rPr lang="en-US" sz="8499" b="true">
                  <a:solidFill>
                    <a:srgbClr val="FFFFFF"/>
                  </a:solidFill>
                  <a:latin typeface="Heading Now 31-38 Bold"/>
                  <a:ea typeface="Heading Now 31-38 Bold"/>
                  <a:cs typeface="Heading Now 31-38 Bold"/>
                  <a:sym typeface="Heading Now 31-38 Bold"/>
                </a:rPr>
                <a:t>MARKETING STRATEGY : PLACE 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686093" y="1888414"/>
            <a:ext cx="9006228" cy="7996626"/>
            <a:chOff x="0" y="0"/>
            <a:chExt cx="1395300" cy="123888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95300" cy="1238887"/>
            </a:xfrm>
            <a:custGeom>
              <a:avLst/>
              <a:gdLst/>
              <a:ahLst/>
              <a:cxnLst/>
              <a:rect r="r" b="b" t="t" l="l"/>
              <a:pathLst>
                <a:path h="1238887" w="1395300">
                  <a:moveTo>
                    <a:pt x="0" y="0"/>
                  </a:moveTo>
                  <a:lnTo>
                    <a:pt x="1395300" y="0"/>
                  </a:lnTo>
                  <a:lnTo>
                    <a:pt x="1395300" y="1238887"/>
                  </a:lnTo>
                  <a:lnTo>
                    <a:pt x="0" y="1238887"/>
                  </a:lnTo>
                  <a:close/>
                </a:path>
              </a:pathLst>
            </a:custGeom>
            <a:gradFill rotWithShape="true">
              <a:gsLst>
                <a:gs pos="0">
                  <a:srgbClr val="FF3131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2700000"/>
            </a:gra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419145" y="3834948"/>
            <a:ext cx="3641303" cy="1153889"/>
            <a:chOff x="0" y="0"/>
            <a:chExt cx="1367573" cy="43336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67573" cy="433369"/>
            </a:xfrm>
            <a:custGeom>
              <a:avLst/>
              <a:gdLst/>
              <a:ahLst/>
              <a:cxnLst/>
              <a:rect r="r" b="b" t="t" l="l"/>
              <a:pathLst>
                <a:path h="433369" w="1367573">
                  <a:moveTo>
                    <a:pt x="0" y="0"/>
                  </a:moveTo>
                  <a:lnTo>
                    <a:pt x="1367573" y="0"/>
                  </a:lnTo>
                  <a:lnTo>
                    <a:pt x="1367573" y="433369"/>
                  </a:lnTo>
                  <a:lnTo>
                    <a:pt x="0" y="43336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144000" y="3834948"/>
            <a:ext cx="3578135" cy="1153889"/>
            <a:chOff x="0" y="0"/>
            <a:chExt cx="1343849" cy="43336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43849" cy="433369"/>
            </a:xfrm>
            <a:custGeom>
              <a:avLst/>
              <a:gdLst/>
              <a:ahLst/>
              <a:cxnLst/>
              <a:rect r="r" b="b" t="t" l="l"/>
              <a:pathLst>
                <a:path h="433369" w="1343849">
                  <a:moveTo>
                    <a:pt x="0" y="0"/>
                  </a:moveTo>
                  <a:lnTo>
                    <a:pt x="1343849" y="0"/>
                  </a:lnTo>
                  <a:lnTo>
                    <a:pt x="1343849" y="433369"/>
                  </a:lnTo>
                  <a:lnTo>
                    <a:pt x="0" y="43336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3419145" y="2155255"/>
            <a:ext cx="3578135" cy="1153889"/>
            <a:chOff x="0" y="0"/>
            <a:chExt cx="1343849" cy="4333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43849" cy="433369"/>
            </a:xfrm>
            <a:custGeom>
              <a:avLst/>
              <a:gdLst/>
              <a:ahLst/>
              <a:cxnLst/>
              <a:rect r="r" b="b" t="t" l="l"/>
              <a:pathLst>
                <a:path h="433369" w="1343849">
                  <a:moveTo>
                    <a:pt x="0" y="0"/>
                  </a:moveTo>
                  <a:lnTo>
                    <a:pt x="1343849" y="0"/>
                  </a:lnTo>
                  <a:lnTo>
                    <a:pt x="1343849" y="433369"/>
                  </a:lnTo>
                  <a:lnTo>
                    <a:pt x="0" y="43336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144000" y="2155255"/>
            <a:ext cx="3578135" cy="1153889"/>
            <a:chOff x="0" y="0"/>
            <a:chExt cx="1343849" cy="43336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43849" cy="433369"/>
            </a:xfrm>
            <a:custGeom>
              <a:avLst/>
              <a:gdLst/>
              <a:ahLst/>
              <a:cxnLst/>
              <a:rect r="r" b="b" t="t" l="l"/>
              <a:pathLst>
                <a:path h="433369" w="1343849">
                  <a:moveTo>
                    <a:pt x="0" y="0"/>
                  </a:moveTo>
                  <a:lnTo>
                    <a:pt x="1343849" y="0"/>
                  </a:lnTo>
                  <a:lnTo>
                    <a:pt x="1343849" y="433369"/>
                  </a:lnTo>
                  <a:lnTo>
                    <a:pt x="0" y="43336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8892000" y="2131272"/>
            <a:ext cx="8367300" cy="3012228"/>
          </a:xfrm>
          <a:custGeom>
            <a:avLst/>
            <a:gdLst/>
            <a:ahLst/>
            <a:cxnLst/>
            <a:rect r="r" b="b" t="t" l="l"/>
            <a:pathLst>
              <a:path h="3012228" w="8367300">
                <a:moveTo>
                  <a:pt x="0" y="0"/>
                </a:moveTo>
                <a:lnTo>
                  <a:pt x="8367300" y="0"/>
                </a:lnTo>
                <a:lnTo>
                  <a:pt x="8367300" y="3012228"/>
                </a:lnTo>
                <a:lnTo>
                  <a:pt x="0" y="30122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9405951" y="5648325"/>
            <a:ext cx="7654497" cy="3913991"/>
          </a:xfrm>
          <a:custGeom>
            <a:avLst/>
            <a:gdLst/>
            <a:ahLst/>
            <a:cxnLst/>
            <a:rect r="r" b="b" t="t" l="l"/>
            <a:pathLst>
              <a:path h="3913991" w="7654497">
                <a:moveTo>
                  <a:pt x="0" y="0"/>
                </a:moveTo>
                <a:lnTo>
                  <a:pt x="7654497" y="0"/>
                </a:lnTo>
                <a:lnTo>
                  <a:pt x="7654497" y="3913991"/>
                </a:lnTo>
                <a:lnTo>
                  <a:pt x="0" y="39139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2591" r="0" b="-7705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826960" y="1950732"/>
            <a:ext cx="7583950" cy="8584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289" indent="-334645" lvl="1">
              <a:lnSpc>
                <a:spcPts val="3998"/>
              </a:lnSpc>
              <a:buFont typeface="Arial"/>
              <a:buChar char="•"/>
            </a:pPr>
            <a:r>
              <a:rPr lang="en-US" b="true" sz="3099" spc="-170" u="sng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Distribution Channels​</a:t>
            </a:r>
          </a:p>
          <a:p>
            <a:pPr algn="l" marL="1338579" indent="-446193" lvl="2">
              <a:lnSpc>
                <a:spcPts val="3998"/>
              </a:lnSpc>
              <a:spcBef>
                <a:spcPct val="0"/>
              </a:spcBef>
              <a:buFont typeface="Arial"/>
              <a:buChar char="⚬"/>
            </a:pPr>
            <a:r>
              <a:rPr lang="en-US" sz="3099" spc="-17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Apple App Store</a:t>
            </a:r>
          </a:p>
          <a:p>
            <a:pPr algn="l" marL="1338579" indent="-446193" lvl="2">
              <a:lnSpc>
                <a:spcPts val="3998"/>
              </a:lnSpc>
              <a:spcBef>
                <a:spcPct val="0"/>
              </a:spcBef>
              <a:buFont typeface="Arial"/>
              <a:buChar char="⚬"/>
            </a:pPr>
            <a:r>
              <a:rPr lang="en-US" sz="3099" spc="-17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Google Play Store</a:t>
            </a:r>
          </a:p>
          <a:p>
            <a:pPr algn="l" marL="1338579" indent="-446193" lvl="2">
              <a:lnSpc>
                <a:spcPts val="3998"/>
              </a:lnSpc>
              <a:spcBef>
                <a:spcPct val="0"/>
              </a:spcBef>
              <a:buFont typeface="Arial"/>
              <a:buChar char="⚬"/>
            </a:pPr>
            <a:r>
              <a:rPr lang="en-US" sz="3099" spc="-17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Amazon App Store</a:t>
            </a:r>
          </a:p>
          <a:p>
            <a:pPr algn="l">
              <a:lnSpc>
                <a:spcPts val="3998"/>
              </a:lnSpc>
              <a:spcBef>
                <a:spcPct val="0"/>
              </a:spcBef>
            </a:pPr>
            <a:r>
              <a:rPr lang="en-US" sz="3099" spc="-17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​</a:t>
            </a:r>
          </a:p>
          <a:p>
            <a:pPr algn="l" marL="669289" indent="-334645" lvl="1">
              <a:lnSpc>
                <a:spcPts val="399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99" spc="-170" u="sng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Local</a:t>
            </a:r>
            <a:r>
              <a:rPr lang="en-US" b="true" sz="3099" spc="-170" u="sng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​</a:t>
            </a:r>
          </a:p>
          <a:p>
            <a:pPr algn="l" marL="1338579" indent="-446193" lvl="2">
              <a:lnSpc>
                <a:spcPts val="3998"/>
              </a:lnSpc>
              <a:spcBef>
                <a:spcPct val="0"/>
              </a:spcBef>
              <a:buFont typeface="Arial"/>
              <a:buChar char="⚬"/>
            </a:pPr>
            <a:r>
              <a:rPr lang="en-US" sz="3099" spc="-17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Different cities throughout the nation </a:t>
            </a:r>
            <a:r>
              <a:rPr lang="en-US" sz="3099" spc="-17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​</a:t>
            </a:r>
          </a:p>
          <a:p>
            <a:pPr algn="l" marL="1338579" indent="-446193" lvl="2">
              <a:lnSpc>
                <a:spcPts val="3998"/>
              </a:lnSpc>
              <a:spcBef>
                <a:spcPct val="0"/>
              </a:spcBef>
              <a:buFont typeface="Arial"/>
              <a:buChar char="⚬"/>
            </a:pPr>
            <a:r>
              <a:rPr lang="en-US" sz="3099" spc="-17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User experience would be more local being tailored to the specific cities </a:t>
            </a:r>
          </a:p>
          <a:p>
            <a:pPr algn="l">
              <a:lnSpc>
                <a:spcPts val="3998"/>
              </a:lnSpc>
              <a:spcBef>
                <a:spcPct val="0"/>
              </a:spcBef>
            </a:pPr>
          </a:p>
          <a:p>
            <a:pPr algn="l" marL="669289" indent="-334645" lvl="1">
              <a:lnSpc>
                <a:spcPts val="399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99" spc="-170" u="sng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O​mni-Channel </a:t>
            </a:r>
          </a:p>
          <a:p>
            <a:pPr algn="l" marL="1338579" indent="-446193" lvl="2">
              <a:lnSpc>
                <a:spcPts val="3998"/>
              </a:lnSpc>
              <a:spcBef>
                <a:spcPct val="0"/>
              </a:spcBef>
              <a:buFont typeface="Arial"/>
              <a:buChar char="⚬"/>
            </a:pPr>
            <a:r>
              <a:rPr lang="en-US" sz="3099" spc="-17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Digital Channels </a:t>
            </a:r>
          </a:p>
          <a:p>
            <a:pPr algn="l" marL="2007868" indent="-501967" lvl="3">
              <a:lnSpc>
                <a:spcPts val="3998"/>
              </a:lnSpc>
              <a:spcBef>
                <a:spcPct val="0"/>
              </a:spcBef>
              <a:buFont typeface="Arial"/>
              <a:buChar char="￭"/>
            </a:pPr>
            <a:r>
              <a:rPr lang="en-US" sz="3099" spc="-17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Ads in GPS and travel websites </a:t>
            </a:r>
          </a:p>
          <a:p>
            <a:pPr algn="l" marL="1338579" indent="-446193" lvl="2">
              <a:lnSpc>
                <a:spcPts val="3998"/>
              </a:lnSpc>
              <a:spcBef>
                <a:spcPct val="0"/>
              </a:spcBef>
              <a:buFont typeface="Arial"/>
              <a:buChar char="⚬"/>
            </a:pPr>
            <a:r>
              <a:rPr lang="en-US" sz="3099" spc="-17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Physical Channels </a:t>
            </a:r>
          </a:p>
          <a:p>
            <a:pPr algn="l" marL="2007868" indent="-501967" lvl="3">
              <a:lnSpc>
                <a:spcPts val="3998"/>
              </a:lnSpc>
              <a:spcBef>
                <a:spcPct val="0"/>
              </a:spcBef>
              <a:buFont typeface="Arial"/>
              <a:buChar char="￭"/>
            </a:pPr>
            <a:r>
              <a:rPr lang="en-US" sz="3099" spc="-17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Billboards </a:t>
            </a:r>
          </a:p>
          <a:p>
            <a:pPr algn="l">
              <a:lnSpc>
                <a:spcPts val="3998"/>
              </a:lnSpc>
              <a:spcBef>
                <a:spcPct val="0"/>
              </a:spcBef>
            </a:pPr>
          </a:p>
          <a:p>
            <a:pPr algn="l">
              <a:lnSpc>
                <a:spcPts val="399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95680" y="1888414"/>
            <a:ext cx="17096641" cy="7996626"/>
            <a:chOff x="0" y="0"/>
            <a:chExt cx="4482881" cy="209678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82881" cy="2096782"/>
            </a:xfrm>
            <a:custGeom>
              <a:avLst/>
              <a:gdLst/>
              <a:ahLst/>
              <a:cxnLst/>
              <a:rect r="r" b="b" t="t" l="l"/>
              <a:pathLst>
                <a:path h="2096782" w="4482881">
                  <a:moveTo>
                    <a:pt x="0" y="0"/>
                  </a:moveTo>
                  <a:lnTo>
                    <a:pt x="4482881" y="0"/>
                  </a:lnTo>
                  <a:lnTo>
                    <a:pt x="4482881" y="2096782"/>
                  </a:lnTo>
                  <a:lnTo>
                    <a:pt x="0" y="2096782"/>
                  </a:lnTo>
                  <a:close/>
                </a:path>
              </a:pathLst>
            </a:custGeom>
            <a:solidFill>
              <a:srgbClr val="363636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66369" y="0"/>
            <a:ext cx="18620738" cy="1629451"/>
            <a:chOff x="0" y="0"/>
            <a:chExt cx="24827651" cy="2172602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24827651" cy="2172602"/>
              <a:chOff x="0" y="0"/>
              <a:chExt cx="2884840" cy="252445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884840" cy="252445"/>
              </a:xfrm>
              <a:custGeom>
                <a:avLst/>
                <a:gdLst/>
                <a:ahLst/>
                <a:cxnLst/>
                <a:rect r="r" b="b" t="t" l="l"/>
                <a:pathLst>
                  <a:path h="252445" w="2884840">
                    <a:moveTo>
                      <a:pt x="0" y="0"/>
                    </a:moveTo>
                    <a:lnTo>
                      <a:pt x="2884840" y="0"/>
                    </a:lnTo>
                    <a:lnTo>
                      <a:pt x="2884840" y="252445"/>
                    </a:lnTo>
                    <a:lnTo>
                      <a:pt x="0" y="252445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F3131">
                      <a:alpha val="100000"/>
                    </a:srgbClr>
                  </a:gs>
                  <a:gs pos="100000">
                    <a:srgbClr val="FF914D">
                      <a:alpha val="100000"/>
                    </a:srgbClr>
                  </a:gs>
                </a:gsLst>
                <a:lin ang="2700000"/>
              </a:gradFill>
            </p:spPr>
          </p:sp>
        </p:grp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584084" cy="2172602"/>
            </a:xfrm>
            <a:custGeom>
              <a:avLst/>
              <a:gdLst/>
              <a:ahLst/>
              <a:cxnLst/>
              <a:rect r="r" b="b" t="t" l="l"/>
              <a:pathLst>
                <a:path h="2172602" w="2584084">
                  <a:moveTo>
                    <a:pt x="0" y="0"/>
                  </a:moveTo>
                  <a:lnTo>
                    <a:pt x="2584084" y="0"/>
                  </a:lnTo>
                  <a:lnTo>
                    <a:pt x="2584084" y="2172602"/>
                  </a:lnTo>
                  <a:lnTo>
                    <a:pt x="0" y="21726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9469" r="0" b="-946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2766562" y="-176080"/>
              <a:ext cx="20823199" cy="21247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2239"/>
                </a:lnSpc>
              </a:pPr>
              <a:r>
                <a:rPr lang="en-US" sz="8499" b="true">
                  <a:solidFill>
                    <a:srgbClr val="FFFFFF"/>
                  </a:solidFill>
                  <a:latin typeface="Heading Now 31-38 Bold"/>
                  <a:ea typeface="Heading Now 31-38 Bold"/>
                  <a:cs typeface="Heading Now 31-38 Bold"/>
                  <a:sym typeface="Heading Now 31-38 Bold"/>
                </a:rPr>
                <a:t>MARKETING STRATEGY : PRICING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141237" y="1888414"/>
            <a:ext cx="5551083" cy="7996626"/>
            <a:chOff x="0" y="0"/>
            <a:chExt cx="860008" cy="123888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60008" cy="1238887"/>
            </a:xfrm>
            <a:custGeom>
              <a:avLst/>
              <a:gdLst/>
              <a:ahLst/>
              <a:cxnLst/>
              <a:rect r="r" b="b" t="t" l="l"/>
              <a:pathLst>
                <a:path h="1238887" w="860008">
                  <a:moveTo>
                    <a:pt x="0" y="0"/>
                  </a:moveTo>
                  <a:lnTo>
                    <a:pt x="860008" y="0"/>
                  </a:lnTo>
                  <a:lnTo>
                    <a:pt x="860008" y="1238887"/>
                  </a:lnTo>
                  <a:lnTo>
                    <a:pt x="0" y="1238887"/>
                  </a:lnTo>
                  <a:close/>
                </a:path>
              </a:pathLst>
            </a:custGeom>
            <a:gradFill rotWithShape="true">
              <a:gsLst>
                <a:gs pos="0">
                  <a:srgbClr val="FF3131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2285506" y="1629451"/>
            <a:ext cx="5406814" cy="8110222"/>
          </a:xfrm>
          <a:custGeom>
            <a:avLst/>
            <a:gdLst/>
            <a:ahLst/>
            <a:cxnLst/>
            <a:rect r="r" b="b" t="t" l="l"/>
            <a:pathLst>
              <a:path h="8110222" w="5406814">
                <a:moveTo>
                  <a:pt x="0" y="0"/>
                </a:moveTo>
                <a:lnTo>
                  <a:pt x="5406814" y="0"/>
                </a:lnTo>
                <a:lnTo>
                  <a:pt x="5406814" y="8110222"/>
                </a:lnTo>
                <a:lnTo>
                  <a:pt x="0" y="81102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3230927" y="2411330"/>
            <a:ext cx="548777" cy="561359"/>
            <a:chOff x="0" y="0"/>
            <a:chExt cx="156250" cy="15983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56250" cy="159833"/>
            </a:xfrm>
            <a:custGeom>
              <a:avLst/>
              <a:gdLst/>
              <a:ahLst/>
              <a:cxnLst/>
              <a:rect r="r" b="b" t="t" l="l"/>
              <a:pathLst>
                <a:path h="159833" w="156250">
                  <a:moveTo>
                    <a:pt x="0" y="0"/>
                  </a:moveTo>
                  <a:lnTo>
                    <a:pt x="156250" y="0"/>
                  </a:lnTo>
                  <a:lnTo>
                    <a:pt x="156250" y="159833"/>
                  </a:lnTo>
                  <a:lnTo>
                    <a:pt x="0" y="159833"/>
                  </a:lnTo>
                  <a:close/>
                </a:path>
              </a:pathLst>
            </a:custGeom>
            <a:solidFill>
              <a:srgbClr val="F84616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809784" y="1999257"/>
            <a:ext cx="11331453" cy="7709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b="true" sz="2900" i="true" u="sng">
                <a:solidFill>
                  <a:srgbClr val="FFFFFF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Pricing Strategy</a:t>
            </a:r>
          </a:p>
          <a:p>
            <a:pPr algn="l" marL="626111" indent="-313055" lvl="1">
              <a:lnSpc>
                <a:spcPts val="4060"/>
              </a:lnSpc>
              <a:buFont typeface="Arial"/>
              <a:buChar char="•"/>
            </a:pPr>
            <a:r>
              <a:rPr lang="en-US" b="true" sz="29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Competition-based pricing.</a:t>
            </a:r>
          </a:p>
          <a:p>
            <a:pPr algn="l" marL="626111" indent="-313055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App is </a:t>
            </a:r>
            <a:r>
              <a:rPr lang="en-US" b="true" sz="2900" i="true" u="sng">
                <a:solidFill>
                  <a:srgbClr val="FFFFFF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free</a:t>
            </a:r>
            <a:r>
              <a:rPr lang="en-US" sz="2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for users to download and use.</a:t>
            </a:r>
          </a:p>
          <a:p>
            <a:pPr algn="l">
              <a:lnSpc>
                <a:spcPts val="4060"/>
              </a:lnSpc>
            </a:pPr>
          </a:p>
          <a:p>
            <a:pPr algn="l" marL="626111" indent="-313055" lvl="1">
              <a:lnSpc>
                <a:spcPts val="4060"/>
              </a:lnSpc>
              <a:buFont typeface="Arial"/>
              <a:buChar char="•"/>
            </a:pPr>
            <a:r>
              <a:rPr lang="en-US" b="true" sz="29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Premium-Based Pricing</a:t>
            </a:r>
          </a:p>
          <a:p>
            <a:pPr algn="l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sz="3000" i="true">
                <a:solidFill>
                  <a:srgbClr val="FFFFFF"/>
                </a:solidFill>
                <a:latin typeface="Arial Italics"/>
                <a:ea typeface="Arial Italics"/>
                <a:cs typeface="Arial Italics"/>
                <a:sym typeface="Arial Italics"/>
              </a:rPr>
              <a:t>In order to have parking garage data, such as pricing and capacity, shown and boosted on the Live-Lots algorithm, garages will be charged a monthly premium based on geographic location.</a:t>
            </a: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3920"/>
              </a:lnSpc>
            </a:pPr>
            <a:r>
              <a:rPr lang="en-US" b="true" sz="2800" i="true" u="sng">
                <a:solidFill>
                  <a:srgbClr val="FFFFFF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Comparison to Major Competitors</a:t>
            </a:r>
          </a:p>
          <a:p>
            <a:pPr algn="l" marL="604521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Competitors use a more dynamic and personalized pricing strategy.</a:t>
            </a:r>
          </a:p>
          <a:p>
            <a:pPr algn="l" marL="604521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Pricing strategy mainly fluctuates with the set market prices.</a:t>
            </a:r>
          </a:p>
          <a:p>
            <a:pPr algn="l">
              <a:lnSpc>
                <a:spcPts val="3920"/>
              </a:lnSpc>
            </a:pPr>
            <a:r>
              <a:rPr lang="en-US" b="true" sz="2800" i="true" u="sng">
                <a:solidFill>
                  <a:srgbClr val="FFFFFF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Promotional or Seasonal Pricing</a:t>
            </a:r>
          </a:p>
          <a:p>
            <a:pPr algn="l" marL="604521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No, we will not offer promotional or seasonal pricing.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3174750" y="2315120"/>
            <a:ext cx="576380" cy="642386"/>
          </a:xfrm>
          <a:custGeom>
            <a:avLst/>
            <a:gdLst/>
            <a:ahLst/>
            <a:cxnLst/>
            <a:rect r="r" b="b" t="t" l="l"/>
            <a:pathLst>
              <a:path h="642386" w="576380">
                <a:moveTo>
                  <a:pt x="0" y="0"/>
                </a:moveTo>
                <a:lnTo>
                  <a:pt x="576379" y="0"/>
                </a:lnTo>
                <a:lnTo>
                  <a:pt x="576379" y="642386"/>
                </a:lnTo>
                <a:lnTo>
                  <a:pt x="0" y="6423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5000"/>
            </a:blip>
            <a:stretch>
              <a:fillRect l="-50713" t="-14471" r="-51864" b="-67291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95680" y="1888414"/>
            <a:ext cx="17096641" cy="7996626"/>
            <a:chOff x="0" y="0"/>
            <a:chExt cx="4482881" cy="209678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82881" cy="2096782"/>
            </a:xfrm>
            <a:custGeom>
              <a:avLst/>
              <a:gdLst/>
              <a:ahLst/>
              <a:cxnLst/>
              <a:rect r="r" b="b" t="t" l="l"/>
              <a:pathLst>
                <a:path h="2096782" w="4482881">
                  <a:moveTo>
                    <a:pt x="0" y="0"/>
                  </a:moveTo>
                  <a:lnTo>
                    <a:pt x="4482881" y="0"/>
                  </a:lnTo>
                  <a:lnTo>
                    <a:pt x="4482881" y="2096782"/>
                  </a:lnTo>
                  <a:lnTo>
                    <a:pt x="0" y="2096782"/>
                  </a:lnTo>
                  <a:close/>
                </a:path>
              </a:pathLst>
            </a:custGeom>
            <a:solidFill>
              <a:srgbClr val="363636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620738" cy="1629451"/>
            <a:chOff x="0" y="0"/>
            <a:chExt cx="24827651" cy="2172602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24827651" cy="2172602"/>
              <a:chOff x="0" y="0"/>
              <a:chExt cx="2884840" cy="252445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884840" cy="252445"/>
              </a:xfrm>
              <a:custGeom>
                <a:avLst/>
                <a:gdLst/>
                <a:ahLst/>
                <a:cxnLst/>
                <a:rect r="r" b="b" t="t" l="l"/>
                <a:pathLst>
                  <a:path h="252445" w="2884840">
                    <a:moveTo>
                      <a:pt x="0" y="0"/>
                    </a:moveTo>
                    <a:lnTo>
                      <a:pt x="2884840" y="0"/>
                    </a:lnTo>
                    <a:lnTo>
                      <a:pt x="2884840" y="252445"/>
                    </a:lnTo>
                    <a:lnTo>
                      <a:pt x="0" y="252445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F3131">
                      <a:alpha val="100000"/>
                    </a:srgbClr>
                  </a:gs>
                  <a:gs pos="100000">
                    <a:srgbClr val="FF914D">
                      <a:alpha val="100000"/>
                    </a:srgbClr>
                  </a:gs>
                </a:gsLst>
                <a:lin ang="2700000"/>
              </a:gradFill>
            </p:spPr>
          </p:sp>
        </p:grp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584084" cy="2172602"/>
            </a:xfrm>
            <a:custGeom>
              <a:avLst/>
              <a:gdLst/>
              <a:ahLst/>
              <a:cxnLst/>
              <a:rect r="r" b="b" t="t" l="l"/>
              <a:pathLst>
                <a:path h="2172602" w="2584084">
                  <a:moveTo>
                    <a:pt x="0" y="0"/>
                  </a:moveTo>
                  <a:lnTo>
                    <a:pt x="2584084" y="0"/>
                  </a:lnTo>
                  <a:lnTo>
                    <a:pt x="2584084" y="2172602"/>
                  </a:lnTo>
                  <a:lnTo>
                    <a:pt x="0" y="21726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9469" r="0" b="-946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2766562" y="-176080"/>
              <a:ext cx="20823199" cy="21247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2239"/>
                </a:lnSpc>
              </a:pPr>
              <a:r>
                <a:rPr lang="en-US" sz="8499" b="true">
                  <a:solidFill>
                    <a:srgbClr val="FFFFFF"/>
                  </a:solidFill>
                  <a:latin typeface="Heading Now 31-38 Bold"/>
                  <a:ea typeface="Heading Now 31-38 Bold"/>
                  <a:cs typeface="Heading Now 31-38 Bold"/>
                  <a:sym typeface="Heading Now 31-38 Bold"/>
                </a:rPr>
                <a:t>MARKETING STRATEGY : PROMOTION 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854190" y="2155735"/>
            <a:ext cx="7405110" cy="1896837"/>
            <a:chOff x="0" y="0"/>
            <a:chExt cx="1147245" cy="29387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47245" cy="293870"/>
            </a:xfrm>
            <a:custGeom>
              <a:avLst/>
              <a:gdLst/>
              <a:ahLst/>
              <a:cxnLst/>
              <a:rect r="r" b="b" t="t" l="l"/>
              <a:pathLst>
                <a:path h="293870" w="1147245">
                  <a:moveTo>
                    <a:pt x="0" y="0"/>
                  </a:moveTo>
                  <a:lnTo>
                    <a:pt x="1147245" y="0"/>
                  </a:lnTo>
                  <a:lnTo>
                    <a:pt x="1147245" y="293870"/>
                  </a:lnTo>
                  <a:lnTo>
                    <a:pt x="0" y="293870"/>
                  </a:lnTo>
                  <a:close/>
                </a:path>
              </a:pathLst>
            </a:custGeom>
            <a:solidFill>
              <a:srgbClr val="363636"/>
            </a:solidFill>
            <a:ln w="142875" cap="sq">
              <a:gradFill>
                <a:gsLst>
                  <a:gs pos="0">
                    <a:srgbClr val="FF3131">
                      <a:alpha val="100000"/>
                    </a:srgbClr>
                  </a:gs>
                  <a:gs pos="100000">
                    <a:srgbClr val="FF914D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854190" y="4248518"/>
            <a:ext cx="7405110" cy="2684373"/>
            <a:chOff x="0" y="0"/>
            <a:chExt cx="1147245" cy="4158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47245" cy="415880"/>
            </a:xfrm>
            <a:custGeom>
              <a:avLst/>
              <a:gdLst/>
              <a:ahLst/>
              <a:cxnLst/>
              <a:rect r="r" b="b" t="t" l="l"/>
              <a:pathLst>
                <a:path h="415880" w="1147245">
                  <a:moveTo>
                    <a:pt x="0" y="0"/>
                  </a:moveTo>
                  <a:lnTo>
                    <a:pt x="1147245" y="0"/>
                  </a:lnTo>
                  <a:lnTo>
                    <a:pt x="1147245" y="415880"/>
                  </a:lnTo>
                  <a:lnTo>
                    <a:pt x="0" y="415880"/>
                  </a:lnTo>
                  <a:close/>
                </a:path>
              </a:pathLst>
            </a:custGeom>
            <a:solidFill>
              <a:srgbClr val="363636"/>
            </a:solidFill>
            <a:ln w="142875" cap="sq">
              <a:gradFill>
                <a:gsLst>
                  <a:gs pos="0">
                    <a:srgbClr val="FF3131">
                      <a:alpha val="100000"/>
                    </a:srgbClr>
                  </a:gs>
                  <a:gs pos="100000">
                    <a:srgbClr val="FF914D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9854190" y="7196161"/>
            <a:ext cx="7405110" cy="2105515"/>
            <a:chOff x="0" y="0"/>
            <a:chExt cx="1147245" cy="32619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47245" cy="326199"/>
            </a:xfrm>
            <a:custGeom>
              <a:avLst/>
              <a:gdLst/>
              <a:ahLst/>
              <a:cxnLst/>
              <a:rect r="r" b="b" t="t" l="l"/>
              <a:pathLst>
                <a:path h="326199" w="1147245">
                  <a:moveTo>
                    <a:pt x="0" y="0"/>
                  </a:moveTo>
                  <a:lnTo>
                    <a:pt x="1147245" y="0"/>
                  </a:lnTo>
                  <a:lnTo>
                    <a:pt x="1147245" y="326199"/>
                  </a:lnTo>
                  <a:lnTo>
                    <a:pt x="0" y="326199"/>
                  </a:lnTo>
                  <a:close/>
                </a:path>
              </a:pathLst>
            </a:custGeom>
            <a:solidFill>
              <a:srgbClr val="363636"/>
            </a:solidFill>
            <a:ln w="142875" cap="sq">
              <a:gradFill>
                <a:gsLst>
                  <a:gs pos="0">
                    <a:srgbClr val="FF3131">
                      <a:alpha val="100000"/>
                    </a:srgbClr>
                  </a:gs>
                  <a:gs pos="100000">
                    <a:srgbClr val="FF914D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195069" y="2155735"/>
            <a:ext cx="8115300" cy="1896837"/>
            <a:chOff x="0" y="0"/>
            <a:chExt cx="1257272" cy="29387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57272" cy="293870"/>
            </a:xfrm>
            <a:custGeom>
              <a:avLst/>
              <a:gdLst/>
              <a:ahLst/>
              <a:cxnLst/>
              <a:rect r="r" b="b" t="t" l="l"/>
              <a:pathLst>
                <a:path h="293870" w="1257272">
                  <a:moveTo>
                    <a:pt x="0" y="0"/>
                  </a:moveTo>
                  <a:lnTo>
                    <a:pt x="1257272" y="0"/>
                  </a:lnTo>
                  <a:lnTo>
                    <a:pt x="1257272" y="293870"/>
                  </a:lnTo>
                  <a:lnTo>
                    <a:pt x="0" y="293870"/>
                  </a:lnTo>
                  <a:close/>
                </a:path>
              </a:pathLst>
            </a:custGeom>
            <a:solidFill>
              <a:srgbClr val="363636"/>
            </a:solidFill>
            <a:ln w="142875" cap="sq">
              <a:gradFill>
                <a:gsLst>
                  <a:gs pos="0">
                    <a:srgbClr val="FF3131">
                      <a:alpha val="100000"/>
                    </a:srgbClr>
                  </a:gs>
                  <a:gs pos="100000">
                    <a:srgbClr val="FF914D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195069" y="4242986"/>
            <a:ext cx="8115300" cy="2689905"/>
            <a:chOff x="0" y="0"/>
            <a:chExt cx="1257272" cy="41673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57272" cy="416737"/>
            </a:xfrm>
            <a:custGeom>
              <a:avLst/>
              <a:gdLst/>
              <a:ahLst/>
              <a:cxnLst/>
              <a:rect r="r" b="b" t="t" l="l"/>
              <a:pathLst>
                <a:path h="416737" w="1257272">
                  <a:moveTo>
                    <a:pt x="0" y="0"/>
                  </a:moveTo>
                  <a:lnTo>
                    <a:pt x="1257272" y="0"/>
                  </a:lnTo>
                  <a:lnTo>
                    <a:pt x="1257272" y="416737"/>
                  </a:lnTo>
                  <a:lnTo>
                    <a:pt x="0" y="416737"/>
                  </a:lnTo>
                  <a:close/>
                </a:path>
              </a:pathLst>
            </a:custGeom>
            <a:solidFill>
              <a:srgbClr val="363636"/>
            </a:solidFill>
            <a:ln w="142875" cap="sq">
              <a:gradFill>
                <a:gsLst>
                  <a:gs pos="0">
                    <a:srgbClr val="FF3131">
                      <a:alpha val="100000"/>
                    </a:srgbClr>
                  </a:gs>
                  <a:gs pos="100000">
                    <a:srgbClr val="FF914D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195069" y="7196161"/>
            <a:ext cx="8115300" cy="2105515"/>
            <a:chOff x="0" y="0"/>
            <a:chExt cx="1257272" cy="32619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57272" cy="326199"/>
            </a:xfrm>
            <a:custGeom>
              <a:avLst/>
              <a:gdLst/>
              <a:ahLst/>
              <a:cxnLst/>
              <a:rect r="r" b="b" t="t" l="l"/>
              <a:pathLst>
                <a:path h="326199" w="1257272">
                  <a:moveTo>
                    <a:pt x="0" y="0"/>
                  </a:moveTo>
                  <a:lnTo>
                    <a:pt x="1257272" y="0"/>
                  </a:lnTo>
                  <a:lnTo>
                    <a:pt x="1257272" y="326199"/>
                  </a:lnTo>
                  <a:lnTo>
                    <a:pt x="0" y="326199"/>
                  </a:lnTo>
                  <a:close/>
                </a:path>
              </a:pathLst>
            </a:custGeom>
            <a:solidFill>
              <a:srgbClr val="363636"/>
            </a:solidFill>
            <a:ln w="142875" cap="sq">
              <a:gradFill>
                <a:gsLst>
                  <a:gs pos="0">
                    <a:srgbClr val="FF3131">
                      <a:alpha val="100000"/>
                    </a:srgbClr>
                  </a:gs>
                  <a:gs pos="100000">
                    <a:srgbClr val="FF914D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1625738" y="2194278"/>
            <a:ext cx="7518262" cy="2044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7"/>
              </a:lnSpc>
            </a:pPr>
            <a:r>
              <a:rPr lang="en-US" sz="2748" u="sng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Promotion Strategy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 i="true">
                <a:solidFill>
                  <a:srgbClr val="FFFFFF"/>
                </a:solidFill>
                <a:latin typeface="Arial Italics"/>
                <a:ea typeface="Arial Italics"/>
                <a:cs typeface="Arial Italics"/>
                <a:sym typeface="Arial Italics"/>
              </a:rPr>
              <a:t>Digit</a:t>
            </a:r>
            <a:r>
              <a:rPr lang="en-US" sz="2300" i="true">
                <a:solidFill>
                  <a:srgbClr val="FFFFFF"/>
                </a:solidFill>
                <a:latin typeface="Arial Italics"/>
                <a:ea typeface="Arial Italics"/>
                <a:cs typeface="Arial Italics"/>
                <a:sym typeface="Arial Italics"/>
              </a:rPr>
              <a:t>al promotions</a:t>
            </a:r>
          </a:p>
          <a:p>
            <a:pPr algn="l" marL="993141" indent="-331047" lvl="2">
              <a:lnSpc>
                <a:spcPts val="3220"/>
              </a:lnSpc>
              <a:buFont typeface="Arial"/>
              <a:buChar char="⚬"/>
            </a:pPr>
            <a:r>
              <a:rPr lang="en-US" sz="2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Using related apps such as Waze or different travel</a:t>
            </a:r>
          </a:p>
          <a:p>
            <a:pPr algn="ctr">
              <a:lnSpc>
                <a:spcPts val="2770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1625738" y="7398337"/>
            <a:ext cx="7684631" cy="1351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88"/>
              </a:lnSpc>
            </a:pPr>
            <a:r>
              <a:rPr lang="en-US" b="true" sz="3063" u="sng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Public Relations and Media Outreach</a:t>
            </a:r>
          </a:p>
          <a:p>
            <a:pPr algn="just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Radio stations and social media</a:t>
            </a:r>
          </a:p>
          <a:p>
            <a:pPr algn="just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Customers should see the benefits of Live Lot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173968" y="2305214"/>
            <a:ext cx="7007870" cy="942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u="sng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Content Marketing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TikTok, </a:t>
            </a:r>
            <a:r>
              <a:rPr lang="en-US" sz="2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Instagram, Facebook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196111" y="4436200"/>
            <a:ext cx="6941518" cy="1742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u="sng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Social Media Strategy</a:t>
            </a:r>
          </a:p>
          <a:p>
            <a:pPr algn="l" marL="496569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Aud</a:t>
            </a:r>
            <a:r>
              <a:rPr lang="en-US" sz="22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ience: people who subscribe to more travel and lifestyle focused content</a:t>
            </a:r>
          </a:p>
          <a:p>
            <a:pPr algn="l" marL="496569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Increase brand awareness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207144" y="7367285"/>
            <a:ext cx="6919452" cy="1687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b="true" sz="3000" u="sng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Influencer Partnerships​</a:t>
            </a:r>
          </a:p>
          <a:p>
            <a:pPr algn="just" marL="466363" indent="-233182" lvl="1">
              <a:lnSpc>
                <a:spcPts val="3024"/>
              </a:lnSpc>
              <a:buFont typeface="Arial"/>
              <a:buChar char="•"/>
            </a:pPr>
            <a:r>
              <a:rPr lang="en-US" sz="216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Travel infl</a:t>
            </a:r>
            <a:r>
              <a:rPr lang="en-US" sz="216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uencers</a:t>
            </a:r>
          </a:p>
          <a:p>
            <a:pPr algn="just" marL="466363" indent="-233182" lvl="1">
              <a:lnSpc>
                <a:spcPts val="3024"/>
              </a:lnSpc>
              <a:buFont typeface="Arial"/>
              <a:buChar char="•"/>
            </a:pPr>
            <a:r>
              <a:rPr lang="en-US" sz="216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 bloggers</a:t>
            </a:r>
          </a:p>
          <a:p>
            <a:pPr algn="just" marL="466363" indent="-233182" lvl="1">
              <a:lnSpc>
                <a:spcPts val="3024"/>
              </a:lnSpc>
              <a:buFont typeface="Arial"/>
              <a:buChar char="•"/>
            </a:pPr>
            <a:r>
              <a:rPr lang="en-US" sz="216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Average lifestyle content creators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625738" y="4304438"/>
            <a:ext cx="7518262" cy="2449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u="sng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Advertising</a:t>
            </a:r>
          </a:p>
          <a:p>
            <a:pPr algn="l" marL="466363" indent="-233182" lvl="1">
              <a:lnSpc>
                <a:spcPts val="3024"/>
              </a:lnSpc>
              <a:buFont typeface="Arial"/>
              <a:buChar char="•"/>
            </a:pPr>
            <a:r>
              <a:rPr lang="en-US" sz="216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Online efforts </a:t>
            </a:r>
          </a:p>
          <a:p>
            <a:pPr algn="l" marL="932727" indent="-310909" lvl="2">
              <a:lnSpc>
                <a:spcPts val="3024"/>
              </a:lnSpc>
              <a:buFont typeface="Arial"/>
              <a:buChar char="⚬"/>
            </a:pPr>
            <a:r>
              <a:rPr lang="en-US" sz="216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Verbal advertisement streamed over radio channels, podcast channels, and Spotify advertisements</a:t>
            </a:r>
          </a:p>
          <a:p>
            <a:pPr algn="l" marL="466363" indent="-233182" lvl="1">
              <a:lnSpc>
                <a:spcPts val="3024"/>
              </a:lnSpc>
              <a:buFont typeface="Arial"/>
              <a:buChar char="•"/>
            </a:pPr>
            <a:r>
              <a:rPr lang="en-US" sz="216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Offline efforts </a:t>
            </a:r>
          </a:p>
          <a:p>
            <a:pPr algn="l" marL="932727" indent="-310909" lvl="2">
              <a:lnSpc>
                <a:spcPts val="3024"/>
              </a:lnSpc>
              <a:buFont typeface="Arial"/>
              <a:buChar char="⚬"/>
            </a:pPr>
            <a:r>
              <a:rPr lang="en-US" sz="216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Billboards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13687596" y="286020"/>
            <a:ext cx="1094430" cy="1094430"/>
          </a:xfrm>
          <a:custGeom>
            <a:avLst/>
            <a:gdLst/>
            <a:ahLst/>
            <a:cxnLst/>
            <a:rect r="r" b="b" t="t" l="l"/>
            <a:pathLst>
              <a:path h="1094430" w="1094430">
                <a:moveTo>
                  <a:pt x="0" y="0"/>
                </a:moveTo>
                <a:lnTo>
                  <a:pt x="1094430" y="0"/>
                </a:lnTo>
                <a:lnTo>
                  <a:pt x="1094430" y="1094430"/>
                </a:lnTo>
                <a:lnTo>
                  <a:pt x="0" y="10944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5181122" y="305745"/>
            <a:ext cx="1054981" cy="1054981"/>
          </a:xfrm>
          <a:custGeom>
            <a:avLst/>
            <a:gdLst/>
            <a:ahLst/>
            <a:cxnLst/>
            <a:rect r="r" b="b" t="t" l="l"/>
            <a:pathLst>
              <a:path h="1054981" w="1054981">
                <a:moveTo>
                  <a:pt x="0" y="0"/>
                </a:moveTo>
                <a:lnTo>
                  <a:pt x="1054980" y="0"/>
                </a:lnTo>
                <a:lnTo>
                  <a:pt x="1054980" y="1054980"/>
                </a:lnTo>
                <a:lnTo>
                  <a:pt x="0" y="10549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6560871" y="249001"/>
            <a:ext cx="1131449" cy="1131449"/>
          </a:xfrm>
          <a:custGeom>
            <a:avLst/>
            <a:gdLst/>
            <a:ahLst/>
            <a:cxnLst/>
            <a:rect r="r" b="b" t="t" l="l"/>
            <a:pathLst>
              <a:path h="1131449" w="1131449">
                <a:moveTo>
                  <a:pt x="0" y="0"/>
                </a:moveTo>
                <a:lnTo>
                  <a:pt x="1131449" y="0"/>
                </a:lnTo>
                <a:lnTo>
                  <a:pt x="1131449" y="1131449"/>
                </a:lnTo>
                <a:lnTo>
                  <a:pt x="0" y="113144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95680" y="1888414"/>
            <a:ext cx="17096641" cy="7996626"/>
            <a:chOff x="0" y="0"/>
            <a:chExt cx="4482881" cy="209678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82881" cy="2096782"/>
            </a:xfrm>
            <a:custGeom>
              <a:avLst/>
              <a:gdLst/>
              <a:ahLst/>
              <a:cxnLst/>
              <a:rect r="r" b="b" t="t" l="l"/>
              <a:pathLst>
                <a:path h="2096782" w="4482881">
                  <a:moveTo>
                    <a:pt x="0" y="0"/>
                  </a:moveTo>
                  <a:lnTo>
                    <a:pt x="4482881" y="0"/>
                  </a:lnTo>
                  <a:lnTo>
                    <a:pt x="4482881" y="2096782"/>
                  </a:lnTo>
                  <a:lnTo>
                    <a:pt x="0" y="2096782"/>
                  </a:lnTo>
                  <a:close/>
                </a:path>
              </a:pathLst>
            </a:custGeom>
            <a:solidFill>
              <a:srgbClr val="363636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620738" cy="1629451"/>
            <a:chOff x="0" y="0"/>
            <a:chExt cx="24827651" cy="2172602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24827651" cy="2172602"/>
              <a:chOff x="0" y="0"/>
              <a:chExt cx="2884840" cy="252445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884840" cy="252445"/>
              </a:xfrm>
              <a:custGeom>
                <a:avLst/>
                <a:gdLst/>
                <a:ahLst/>
                <a:cxnLst/>
                <a:rect r="r" b="b" t="t" l="l"/>
                <a:pathLst>
                  <a:path h="252445" w="2884840">
                    <a:moveTo>
                      <a:pt x="0" y="0"/>
                    </a:moveTo>
                    <a:lnTo>
                      <a:pt x="2884840" y="0"/>
                    </a:lnTo>
                    <a:lnTo>
                      <a:pt x="2884840" y="252445"/>
                    </a:lnTo>
                    <a:lnTo>
                      <a:pt x="0" y="252445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F3131">
                      <a:alpha val="100000"/>
                    </a:srgbClr>
                  </a:gs>
                  <a:gs pos="100000">
                    <a:srgbClr val="FF914D">
                      <a:alpha val="100000"/>
                    </a:srgbClr>
                  </a:gs>
                </a:gsLst>
                <a:lin ang="2700000"/>
              </a:gradFill>
            </p:spPr>
          </p:sp>
        </p:grp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584084" cy="2172602"/>
            </a:xfrm>
            <a:custGeom>
              <a:avLst/>
              <a:gdLst/>
              <a:ahLst/>
              <a:cxnLst/>
              <a:rect r="r" b="b" t="t" l="l"/>
              <a:pathLst>
                <a:path h="2172602" w="2584084">
                  <a:moveTo>
                    <a:pt x="0" y="0"/>
                  </a:moveTo>
                  <a:lnTo>
                    <a:pt x="2584084" y="0"/>
                  </a:lnTo>
                  <a:lnTo>
                    <a:pt x="2584084" y="2172602"/>
                  </a:lnTo>
                  <a:lnTo>
                    <a:pt x="0" y="21726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9469" r="0" b="-946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2766562" y="-176080"/>
              <a:ext cx="20823199" cy="21247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2239"/>
                </a:lnSpc>
              </a:pPr>
              <a:r>
                <a:rPr lang="en-US" sz="8499" b="true">
                  <a:solidFill>
                    <a:srgbClr val="FFFFFF"/>
                  </a:solidFill>
                  <a:latin typeface="Heading Now 31-38 Bold"/>
                  <a:ea typeface="Heading Now 31-38 Bold"/>
                  <a:cs typeface="Heading Now 31-38 Bold"/>
                  <a:sym typeface="Heading Now 31-38 Bold"/>
                </a:rPr>
                <a:t>EVALUATION &amp; CONTROL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098588" y="1888414"/>
            <a:ext cx="4593732" cy="7996626"/>
            <a:chOff x="0" y="0"/>
            <a:chExt cx="923258" cy="160717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23258" cy="1607178"/>
            </a:xfrm>
            <a:custGeom>
              <a:avLst/>
              <a:gdLst/>
              <a:ahLst/>
              <a:cxnLst/>
              <a:rect r="r" b="b" t="t" l="l"/>
              <a:pathLst>
                <a:path h="1607178" w="923258">
                  <a:moveTo>
                    <a:pt x="0" y="0"/>
                  </a:moveTo>
                  <a:lnTo>
                    <a:pt x="923258" y="0"/>
                  </a:lnTo>
                  <a:lnTo>
                    <a:pt x="923258" y="1607178"/>
                  </a:lnTo>
                  <a:lnTo>
                    <a:pt x="0" y="1607178"/>
                  </a:lnTo>
                  <a:close/>
                </a:path>
              </a:pathLst>
            </a:custGeom>
            <a:solidFill>
              <a:srgbClr val="FCFAF9"/>
            </a:solidFill>
            <a:ln w="95250" cap="sq">
              <a:gradFill>
                <a:gsLst>
                  <a:gs pos="0">
                    <a:srgbClr val="FF3131">
                      <a:alpha val="100000"/>
                    </a:srgbClr>
                  </a:gs>
                  <a:gs pos="100000">
                    <a:srgbClr val="FF914D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3277793" y="2536188"/>
            <a:ext cx="4235323" cy="6722112"/>
          </a:xfrm>
          <a:custGeom>
            <a:avLst/>
            <a:gdLst/>
            <a:ahLst/>
            <a:cxnLst/>
            <a:rect r="r" b="b" t="t" l="l"/>
            <a:pathLst>
              <a:path h="6722112" w="4235323">
                <a:moveTo>
                  <a:pt x="0" y="0"/>
                </a:moveTo>
                <a:lnTo>
                  <a:pt x="4235323" y="0"/>
                </a:lnTo>
                <a:lnTo>
                  <a:pt x="4235323" y="6722112"/>
                </a:lnTo>
                <a:lnTo>
                  <a:pt x="0" y="67221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872" t="0" r="-2872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3393135" y="3178206"/>
            <a:ext cx="1111890" cy="1127269"/>
            <a:chOff x="0" y="0"/>
            <a:chExt cx="906875" cy="91941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06875" cy="919419"/>
            </a:xfrm>
            <a:custGeom>
              <a:avLst/>
              <a:gdLst/>
              <a:ahLst/>
              <a:cxnLst/>
              <a:rect r="r" b="b" t="t" l="l"/>
              <a:pathLst>
                <a:path h="919419" w="906875">
                  <a:moveTo>
                    <a:pt x="453438" y="0"/>
                  </a:moveTo>
                  <a:cubicBezTo>
                    <a:pt x="203011" y="0"/>
                    <a:pt x="0" y="205819"/>
                    <a:pt x="0" y="459709"/>
                  </a:cubicBezTo>
                  <a:cubicBezTo>
                    <a:pt x="0" y="713600"/>
                    <a:pt x="203011" y="919419"/>
                    <a:pt x="453438" y="919419"/>
                  </a:cubicBezTo>
                  <a:cubicBezTo>
                    <a:pt x="703864" y="919419"/>
                    <a:pt x="906875" y="713600"/>
                    <a:pt x="906875" y="459709"/>
                  </a:cubicBezTo>
                  <a:cubicBezTo>
                    <a:pt x="906875" y="205819"/>
                    <a:pt x="703864" y="0"/>
                    <a:pt x="4534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3131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85020" y="29046"/>
              <a:ext cx="736836" cy="804178"/>
            </a:xfrm>
            <a:prstGeom prst="rect">
              <a:avLst/>
            </a:prstGeom>
          </p:spPr>
          <p:txBody>
            <a:bodyPr anchor="ctr" rtlCol="false" tIns="29047" lIns="29047" bIns="29047" rIns="29047"/>
            <a:lstStyle/>
            <a:p>
              <a:pPr algn="ctr">
                <a:lnSpc>
                  <a:spcPts val="3024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3592778" y="3297889"/>
            <a:ext cx="733947" cy="866264"/>
          </a:xfrm>
          <a:custGeom>
            <a:avLst/>
            <a:gdLst/>
            <a:ahLst/>
            <a:cxnLst/>
            <a:rect r="r" b="b" t="t" l="l"/>
            <a:pathLst>
              <a:path h="866264" w="733947">
                <a:moveTo>
                  <a:pt x="0" y="0"/>
                </a:moveTo>
                <a:lnTo>
                  <a:pt x="733947" y="0"/>
                </a:lnTo>
                <a:lnTo>
                  <a:pt x="733947" y="866264"/>
                </a:lnTo>
                <a:lnTo>
                  <a:pt x="0" y="8662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9327" t="-19535" r="-56159" b="-63037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3790720" y="6307020"/>
            <a:ext cx="1194751" cy="496974"/>
            <a:chOff x="0" y="0"/>
            <a:chExt cx="185098" cy="7699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85098" cy="76994"/>
            </a:xfrm>
            <a:custGeom>
              <a:avLst/>
              <a:gdLst/>
              <a:ahLst/>
              <a:cxnLst/>
              <a:rect r="r" b="b" t="t" l="l"/>
              <a:pathLst>
                <a:path h="76994" w="185098">
                  <a:moveTo>
                    <a:pt x="0" y="0"/>
                  </a:moveTo>
                  <a:lnTo>
                    <a:pt x="185098" y="0"/>
                  </a:lnTo>
                  <a:lnTo>
                    <a:pt x="185098" y="76994"/>
                  </a:lnTo>
                  <a:lnTo>
                    <a:pt x="0" y="76994"/>
                  </a:lnTo>
                  <a:close/>
                </a:path>
              </a:pathLst>
            </a:custGeom>
            <a:solidFill>
              <a:srgbClr val="222121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770269" y="2087588"/>
            <a:ext cx="11970824" cy="1869441"/>
            <a:chOff x="0" y="0"/>
            <a:chExt cx="1854594" cy="28962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854594" cy="289625"/>
            </a:xfrm>
            <a:custGeom>
              <a:avLst/>
              <a:gdLst/>
              <a:ahLst/>
              <a:cxnLst/>
              <a:rect r="r" b="b" t="t" l="l"/>
              <a:pathLst>
                <a:path h="289625" w="1854594">
                  <a:moveTo>
                    <a:pt x="0" y="0"/>
                  </a:moveTo>
                  <a:lnTo>
                    <a:pt x="1854594" y="0"/>
                  </a:lnTo>
                  <a:lnTo>
                    <a:pt x="1854594" y="289625"/>
                  </a:lnTo>
                  <a:lnTo>
                    <a:pt x="0" y="289625"/>
                  </a:lnTo>
                  <a:close/>
                </a:path>
              </a:pathLst>
            </a:custGeom>
            <a:gradFill rotWithShape="true">
              <a:gsLst>
                <a:gs pos="0">
                  <a:srgbClr val="FF3131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943024" y="2094963"/>
            <a:ext cx="11712392" cy="2048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6"/>
              </a:lnSpc>
              <a:spcBef>
                <a:spcPct val="0"/>
              </a:spcBef>
            </a:pPr>
            <a:r>
              <a:rPr lang="en-US" b="true" sz="2900" u="sng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Weekly:</a:t>
            </a:r>
            <a:r>
              <a:rPr lang="en-US" b="true" sz="29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 review app health, downloads, social media engagement​</a:t>
            </a:r>
          </a:p>
          <a:p>
            <a:pPr algn="l">
              <a:lnSpc>
                <a:spcPts val="4176"/>
              </a:lnSpc>
              <a:spcBef>
                <a:spcPct val="0"/>
              </a:spcBef>
            </a:pPr>
            <a:r>
              <a:rPr lang="en-US" b="true" sz="2900" u="sng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Monthly:</a:t>
            </a:r>
            <a:r>
              <a:rPr lang="en-US" b="true" sz="29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 assess user growth, revenue process, user engagement​</a:t>
            </a:r>
          </a:p>
          <a:p>
            <a:pPr algn="l">
              <a:lnSpc>
                <a:spcPts val="4176"/>
              </a:lnSpc>
              <a:spcBef>
                <a:spcPct val="0"/>
              </a:spcBef>
            </a:pPr>
            <a:r>
              <a:rPr lang="en-US" b="true" sz="2900" u="sng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Quarterly:</a:t>
            </a:r>
            <a:r>
              <a:rPr lang="en-US" b="true" sz="29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 adjust long term strategy, budget, marketing direction</a:t>
            </a:r>
          </a:p>
          <a:p>
            <a:pPr algn="ctr">
              <a:lnSpc>
                <a:spcPts val="3888"/>
              </a:lnSpc>
              <a:spcBef>
                <a:spcPct val="0"/>
              </a:spcBef>
            </a:pP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3986649" y="6254849"/>
            <a:ext cx="680152" cy="601316"/>
          </a:xfrm>
          <a:custGeom>
            <a:avLst/>
            <a:gdLst/>
            <a:ahLst/>
            <a:cxnLst/>
            <a:rect r="r" b="b" t="t" l="l"/>
            <a:pathLst>
              <a:path h="601316" w="680152">
                <a:moveTo>
                  <a:pt x="0" y="0"/>
                </a:moveTo>
                <a:lnTo>
                  <a:pt x="680152" y="0"/>
                </a:lnTo>
                <a:lnTo>
                  <a:pt x="680152" y="601316"/>
                </a:lnTo>
                <a:lnTo>
                  <a:pt x="0" y="6013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555" r="0" b="-6555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7082450" y="8803013"/>
            <a:ext cx="157800" cy="186248"/>
          </a:xfrm>
          <a:custGeom>
            <a:avLst/>
            <a:gdLst/>
            <a:ahLst/>
            <a:cxnLst/>
            <a:rect r="r" b="b" t="t" l="l"/>
            <a:pathLst>
              <a:path h="186248" w="157800">
                <a:moveTo>
                  <a:pt x="0" y="0"/>
                </a:moveTo>
                <a:lnTo>
                  <a:pt x="157800" y="0"/>
                </a:lnTo>
                <a:lnTo>
                  <a:pt x="157800" y="186248"/>
                </a:lnTo>
                <a:lnTo>
                  <a:pt x="0" y="1862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9327" t="-19535" r="-56159" b="-63037"/>
            </a:stretch>
          </a:blipFill>
        </p:spPr>
      </p:sp>
      <p:sp>
        <p:nvSpPr>
          <p:cNvPr name="AutoShape 24" id="24"/>
          <p:cNvSpPr/>
          <p:nvPr/>
        </p:nvSpPr>
        <p:spPr>
          <a:xfrm>
            <a:off x="5621379" y="4305474"/>
            <a:ext cx="0" cy="5534799"/>
          </a:xfrm>
          <a:prstGeom prst="line">
            <a:avLst/>
          </a:prstGeom>
          <a:ln cap="flat" w="95250">
            <a:gradFill>
              <a:gsLst>
                <a:gs pos="0">
                  <a:srgbClr val="FF3131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TextBox 25" id="25"/>
          <p:cNvSpPr txBox="true"/>
          <p:nvPr/>
        </p:nvSpPr>
        <p:spPr>
          <a:xfrm rot="0">
            <a:off x="5933695" y="4219749"/>
            <a:ext cx="6900202" cy="5711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04"/>
              </a:lnSpc>
              <a:spcBef>
                <a:spcPct val="0"/>
              </a:spcBef>
            </a:pPr>
            <a:r>
              <a:rPr lang="en-US" b="true" sz="336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If </a:t>
            </a:r>
            <a:r>
              <a:rPr lang="en-US" b="true" sz="336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our plan is </a:t>
            </a:r>
            <a:r>
              <a:rPr lang="en-US" b="true" sz="3360" i="true" u="sng">
                <a:solidFill>
                  <a:srgbClr val="FFFFFF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on target:​</a:t>
            </a:r>
          </a:p>
          <a:p>
            <a:pPr algn="l" marL="725437" indent="-362718" lvl="1">
              <a:lnSpc>
                <a:spcPts val="4704"/>
              </a:lnSpc>
              <a:spcBef>
                <a:spcPct val="0"/>
              </a:spcBef>
              <a:buFont typeface="Arial"/>
              <a:buChar char="•"/>
            </a:pPr>
            <a:r>
              <a:rPr lang="en-US" sz="336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Increase investment and look to expand, add new pricing tiers, and launch loyalty programs​</a:t>
            </a:r>
          </a:p>
          <a:p>
            <a:pPr algn="l">
              <a:lnSpc>
                <a:spcPts val="4704"/>
              </a:lnSpc>
              <a:spcBef>
                <a:spcPct val="0"/>
              </a:spcBef>
            </a:pPr>
          </a:p>
          <a:p>
            <a:pPr algn="l">
              <a:lnSpc>
                <a:spcPts val="4704"/>
              </a:lnSpc>
              <a:spcBef>
                <a:spcPct val="0"/>
              </a:spcBef>
            </a:pPr>
            <a:r>
              <a:rPr lang="en-US" b="true" sz="336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If our plan is </a:t>
            </a:r>
            <a:r>
              <a:rPr lang="en-US" b="true" sz="3360" i="true" u="sng">
                <a:solidFill>
                  <a:srgbClr val="FFFFFF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off target:​</a:t>
            </a:r>
          </a:p>
          <a:p>
            <a:pPr algn="l" marL="725437" indent="-362718" lvl="1">
              <a:lnSpc>
                <a:spcPts val="4704"/>
              </a:lnSpc>
              <a:spcBef>
                <a:spcPct val="0"/>
              </a:spcBef>
              <a:buFont typeface="Arial"/>
              <a:buChar char="•"/>
            </a:pPr>
            <a:r>
              <a:rPr lang="en-US" sz="336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Adjust marketing, strengthen product experience, improve user retention​</a:t>
            </a:r>
          </a:p>
          <a:p>
            <a:pPr algn="just">
              <a:lnSpc>
                <a:spcPts val="3024"/>
              </a:lnSpc>
              <a:spcBef>
                <a:spcPct val="0"/>
              </a:spcBef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1028700" y="4584292"/>
            <a:ext cx="4364031" cy="3255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64"/>
              </a:lnSpc>
            </a:pPr>
            <a:r>
              <a:rPr lang="en-US" b="true" sz="3260" u="sng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KPIs to monitor:​</a:t>
            </a:r>
          </a:p>
          <a:p>
            <a:pPr algn="l" marL="703847" indent="-351924" lvl="1">
              <a:lnSpc>
                <a:spcPts val="4564"/>
              </a:lnSpc>
              <a:buFont typeface="Arial"/>
              <a:buChar char="•"/>
            </a:pPr>
            <a:r>
              <a:rPr lang="en-US" b="true" sz="326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User Metrics​</a:t>
            </a:r>
          </a:p>
          <a:p>
            <a:pPr algn="l" marL="703847" indent="-351924" lvl="1">
              <a:lnSpc>
                <a:spcPts val="4564"/>
              </a:lnSpc>
              <a:buFont typeface="Arial"/>
              <a:buChar char="•"/>
            </a:pPr>
            <a:r>
              <a:rPr lang="en-US" b="true" sz="326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Revenue Metrics​</a:t>
            </a:r>
          </a:p>
          <a:p>
            <a:pPr algn="l" marL="703847" indent="-351924" lvl="1">
              <a:lnSpc>
                <a:spcPts val="4564"/>
              </a:lnSpc>
              <a:buFont typeface="Arial"/>
              <a:buChar char="•"/>
            </a:pPr>
            <a:r>
              <a:rPr lang="en-US" b="true" sz="326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Market Metrics​</a:t>
            </a:r>
          </a:p>
          <a:p>
            <a:pPr algn="l" marL="703847" indent="-351924" lvl="1">
              <a:lnSpc>
                <a:spcPts val="4564"/>
              </a:lnSpc>
              <a:buFont typeface="Arial"/>
              <a:buChar char="•"/>
            </a:pPr>
            <a:r>
              <a:rPr lang="en-US" b="true" sz="326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Product Metrics​</a:t>
            </a:r>
          </a:p>
          <a:p>
            <a:pPr algn="l">
              <a:lnSpc>
                <a:spcPts val="302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95680" y="1888414"/>
            <a:ext cx="17096641" cy="7996626"/>
            <a:chOff x="0" y="0"/>
            <a:chExt cx="4482881" cy="209678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82881" cy="2096782"/>
            </a:xfrm>
            <a:custGeom>
              <a:avLst/>
              <a:gdLst/>
              <a:ahLst/>
              <a:cxnLst/>
              <a:rect r="r" b="b" t="t" l="l"/>
              <a:pathLst>
                <a:path h="2096782" w="4482881">
                  <a:moveTo>
                    <a:pt x="0" y="0"/>
                  </a:moveTo>
                  <a:lnTo>
                    <a:pt x="4482881" y="0"/>
                  </a:lnTo>
                  <a:lnTo>
                    <a:pt x="4482881" y="2096782"/>
                  </a:lnTo>
                  <a:lnTo>
                    <a:pt x="0" y="2096782"/>
                  </a:lnTo>
                  <a:close/>
                </a:path>
              </a:pathLst>
            </a:custGeom>
            <a:solidFill>
              <a:srgbClr val="363636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620738" cy="1629451"/>
            <a:chOff x="0" y="0"/>
            <a:chExt cx="24827651" cy="2172602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24827651" cy="2172602"/>
              <a:chOff x="0" y="0"/>
              <a:chExt cx="2884840" cy="252445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884840" cy="252445"/>
              </a:xfrm>
              <a:custGeom>
                <a:avLst/>
                <a:gdLst/>
                <a:ahLst/>
                <a:cxnLst/>
                <a:rect r="r" b="b" t="t" l="l"/>
                <a:pathLst>
                  <a:path h="252445" w="2884840">
                    <a:moveTo>
                      <a:pt x="0" y="0"/>
                    </a:moveTo>
                    <a:lnTo>
                      <a:pt x="2884840" y="0"/>
                    </a:lnTo>
                    <a:lnTo>
                      <a:pt x="2884840" y="252445"/>
                    </a:lnTo>
                    <a:lnTo>
                      <a:pt x="0" y="252445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F3131">
                      <a:alpha val="100000"/>
                    </a:srgbClr>
                  </a:gs>
                  <a:gs pos="100000">
                    <a:srgbClr val="FF914D">
                      <a:alpha val="100000"/>
                    </a:srgbClr>
                  </a:gs>
                </a:gsLst>
                <a:lin ang="2700000"/>
              </a:gradFill>
            </p:spPr>
          </p:sp>
        </p:grp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584084" cy="2172602"/>
            </a:xfrm>
            <a:custGeom>
              <a:avLst/>
              <a:gdLst/>
              <a:ahLst/>
              <a:cxnLst/>
              <a:rect r="r" b="b" t="t" l="l"/>
              <a:pathLst>
                <a:path h="2172602" w="2584084">
                  <a:moveTo>
                    <a:pt x="0" y="0"/>
                  </a:moveTo>
                  <a:lnTo>
                    <a:pt x="2584084" y="0"/>
                  </a:lnTo>
                  <a:lnTo>
                    <a:pt x="2584084" y="2172602"/>
                  </a:lnTo>
                  <a:lnTo>
                    <a:pt x="0" y="21726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9469" r="0" b="-946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2766562" y="-176080"/>
              <a:ext cx="20823199" cy="21247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2239"/>
                </a:lnSpc>
              </a:pPr>
              <a:r>
                <a:rPr lang="en-US" sz="8499" b="true">
                  <a:solidFill>
                    <a:srgbClr val="FFFFFF"/>
                  </a:solidFill>
                  <a:latin typeface="Heading Now 31-38 Bold"/>
                  <a:ea typeface="Heading Now 31-38 Bold"/>
                  <a:cs typeface="Heading Now 31-38 Bold"/>
                  <a:sym typeface="Heading Now 31-38 Bold"/>
                </a:rPr>
                <a:t>SOURCES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28700" y="2263944"/>
            <a:ext cx="16230600" cy="5236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7"/>
              </a:lnSpc>
            </a:pPr>
            <a:r>
              <a:rPr lang="en-US" b="true" sz="3199" u="sng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Work Cited</a:t>
            </a:r>
          </a:p>
          <a:p>
            <a:pPr algn="l">
              <a:lnSpc>
                <a:spcPts val="4607"/>
              </a:lnSpc>
            </a:pPr>
          </a:p>
          <a:p>
            <a:pPr algn="l">
              <a:lnSpc>
                <a:spcPts val="4607"/>
              </a:lnSpc>
            </a:pPr>
            <a:r>
              <a:rPr lang="en-US" sz="31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Armstrong, Gary, and Philip Kotler. Marketing: An Introduction. 15th ed., Pearson, 2022.</a:t>
            </a:r>
          </a:p>
          <a:p>
            <a:pPr algn="l">
              <a:lnSpc>
                <a:spcPts val="4607"/>
              </a:lnSpc>
            </a:pPr>
          </a:p>
          <a:p>
            <a:pPr algn="l">
              <a:lnSpc>
                <a:spcPts val="4607"/>
              </a:lnSpc>
            </a:pPr>
            <a:r>
              <a:rPr lang="en-US" sz="31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Market.us. "Parking Finder Apps Market Size | CAGR of 17.2%." Market.us, Aug. 2025, market.us/report/parking-finder-apps-market/. Accessed 30 Nov. 2025.</a:t>
            </a:r>
          </a:p>
          <a:p>
            <a:pPr algn="l">
              <a:lnSpc>
                <a:spcPts val="4607"/>
              </a:lnSpc>
            </a:pPr>
          </a:p>
          <a:p>
            <a:pPr algn="l">
              <a:lnSpc>
                <a:spcPts val="4607"/>
              </a:lnSpc>
              <a:spcBef>
                <a:spcPct val="0"/>
              </a:spcBef>
            </a:pPr>
            <a:r>
              <a:rPr lang="en-US" sz="31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Parking Finder Apps Market.” Market.Us, 20 Aug. 2025, market.us/report/parking-finder-apps-market/.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144000" y="-91433"/>
            <a:ext cx="9144000" cy="10482011"/>
            <a:chOff x="0" y="0"/>
            <a:chExt cx="17928969" cy="2055245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102" y="-127"/>
              <a:ext cx="17927868" cy="20552581"/>
            </a:xfrm>
            <a:custGeom>
              <a:avLst/>
              <a:gdLst/>
              <a:ahLst/>
              <a:cxnLst/>
              <a:rect r="r" b="b" t="t" l="l"/>
              <a:pathLst>
                <a:path h="20552581" w="17927868">
                  <a:moveTo>
                    <a:pt x="17927867" y="20481788"/>
                  </a:moveTo>
                  <a:cubicBezTo>
                    <a:pt x="17927867" y="20548014"/>
                    <a:pt x="17905634" y="20552581"/>
                    <a:pt x="17847674" y="20552581"/>
                  </a:cubicBezTo>
                  <a:cubicBezTo>
                    <a:pt x="11898876" y="20551313"/>
                    <a:pt x="5950343" y="20551313"/>
                    <a:pt x="1545" y="20551313"/>
                  </a:cubicBezTo>
                  <a:cubicBezTo>
                    <a:pt x="-3896" y="20523656"/>
                    <a:pt x="6309" y="20498535"/>
                    <a:pt x="12396" y="20472908"/>
                  </a:cubicBezTo>
                  <a:cubicBezTo>
                    <a:pt x="273882" y="19350867"/>
                    <a:pt x="535632" y="18229081"/>
                    <a:pt x="797911" y="17107297"/>
                  </a:cubicBezTo>
                  <a:cubicBezTo>
                    <a:pt x="1171878" y="15507971"/>
                    <a:pt x="1546639" y="13908901"/>
                    <a:pt x="1920341" y="12309575"/>
                  </a:cubicBezTo>
                  <a:cubicBezTo>
                    <a:pt x="2381911" y="10334461"/>
                    <a:pt x="2842422" y="8359346"/>
                    <a:pt x="3303727" y="6384486"/>
                  </a:cubicBezTo>
                  <a:cubicBezTo>
                    <a:pt x="3772443" y="4378162"/>
                    <a:pt x="4241423" y="2372091"/>
                    <a:pt x="4711462" y="366021"/>
                  </a:cubicBezTo>
                  <a:cubicBezTo>
                    <a:pt x="4740045" y="243972"/>
                    <a:pt x="4758307" y="119131"/>
                    <a:pt x="4804623" y="1142"/>
                  </a:cubicBezTo>
                  <a:cubicBezTo>
                    <a:pt x="9152483" y="1142"/>
                    <a:pt x="13500344" y="1142"/>
                    <a:pt x="17848204" y="0"/>
                  </a:cubicBezTo>
                  <a:cubicBezTo>
                    <a:pt x="17907224" y="0"/>
                    <a:pt x="17927337" y="6724"/>
                    <a:pt x="17927337" y="71428"/>
                  </a:cubicBezTo>
                  <a:cubicBezTo>
                    <a:pt x="17925750" y="6874966"/>
                    <a:pt x="17925750" y="13678504"/>
                    <a:pt x="17927867" y="20481788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3131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2700000"/>
            </a:gra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-182866"/>
            <a:ext cx="2512758" cy="3821416"/>
            <a:chOff x="0" y="0"/>
            <a:chExt cx="406400" cy="61805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6400" cy="618055"/>
            </a:xfrm>
            <a:custGeom>
              <a:avLst/>
              <a:gdLst/>
              <a:ahLst/>
              <a:cxnLst/>
              <a:rect r="r" b="b" t="t" l="l"/>
              <a:pathLst>
                <a:path h="618055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618055"/>
                  </a:lnTo>
                  <a:lnTo>
                    <a:pt x="0" y="618055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3131">
                    <a:alpha val="55000"/>
                  </a:srgbClr>
                </a:gs>
                <a:gs pos="100000">
                  <a:srgbClr val="FF914D">
                    <a:alpha val="55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-28575"/>
              <a:ext cx="203200" cy="6466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660137" y="-182866"/>
            <a:ext cx="2512758" cy="3821416"/>
            <a:chOff x="0" y="0"/>
            <a:chExt cx="406400" cy="61805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6400" cy="618055"/>
            </a:xfrm>
            <a:custGeom>
              <a:avLst/>
              <a:gdLst/>
              <a:ahLst/>
              <a:cxnLst/>
              <a:rect r="r" b="b" t="t" l="l"/>
              <a:pathLst>
                <a:path h="618055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618055"/>
                  </a:lnTo>
                  <a:lnTo>
                    <a:pt x="0" y="618055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3131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-28575"/>
              <a:ext cx="203200" cy="6466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7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2947535" y="0"/>
            <a:ext cx="6573487" cy="2226553"/>
          </a:xfrm>
          <a:custGeom>
            <a:avLst/>
            <a:gdLst/>
            <a:ahLst/>
            <a:cxnLst/>
            <a:rect r="r" b="b" t="t" l="l"/>
            <a:pathLst>
              <a:path h="2226553" w="6573487">
                <a:moveTo>
                  <a:pt x="0" y="0"/>
                </a:moveTo>
                <a:lnTo>
                  <a:pt x="6573487" y="0"/>
                </a:lnTo>
                <a:lnTo>
                  <a:pt x="6573487" y="2226553"/>
                </a:lnTo>
                <a:lnTo>
                  <a:pt x="0" y="22265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670096" y="4445244"/>
            <a:ext cx="7234277" cy="6395759"/>
          </a:xfrm>
          <a:custGeom>
            <a:avLst/>
            <a:gdLst/>
            <a:ahLst/>
            <a:cxnLst/>
            <a:rect r="r" b="b" t="t" l="l"/>
            <a:pathLst>
              <a:path h="6395759" w="7234277">
                <a:moveTo>
                  <a:pt x="0" y="0"/>
                </a:moveTo>
                <a:lnTo>
                  <a:pt x="7234276" y="0"/>
                </a:lnTo>
                <a:lnTo>
                  <a:pt x="7234276" y="6395760"/>
                </a:lnTo>
                <a:lnTo>
                  <a:pt x="0" y="63957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6555" r="0" b="-6555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28700" y="1455780"/>
            <a:ext cx="8070367" cy="7482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793"/>
              </a:lnSpc>
            </a:pPr>
            <a:r>
              <a:rPr lang="en-US" b="true" sz="28344">
                <a:solidFill>
                  <a:srgbClr val="FFFFFF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DAG6IdIeMjc</dc:identifier>
  <dcterms:modified xsi:type="dcterms:W3CDTF">2011-08-01T06:04:30Z</dcterms:modified>
  <cp:revision>1</cp:revision>
  <dc:title>Live-Lot- Team Marketing Plan - Group 17</dc:title>
</cp:coreProperties>
</file>